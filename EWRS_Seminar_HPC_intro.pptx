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6"/>
  </p:notesMasterIdLst>
  <p:sldIdLst>
    <p:sldId id="256" r:id="rId2"/>
    <p:sldId id="257" r:id="rId3"/>
    <p:sldId id="280" r:id="rId4"/>
    <p:sldId id="281" r:id="rId5"/>
    <p:sldId id="258" r:id="rId6"/>
    <p:sldId id="282" r:id="rId7"/>
    <p:sldId id="283" r:id="rId8"/>
    <p:sldId id="284" r:id="rId9"/>
    <p:sldId id="305" r:id="rId10"/>
    <p:sldId id="304" r:id="rId11"/>
    <p:sldId id="303" r:id="rId12"/>
    <p:sldId id="285" r:id="rId13"/>
    <p:sldId id="286" r:id="rId14"/>
    <p:sldId id="287" r:id="rId15"/>
    <p:sldId id="288" r:id="rId16"/>
    <p:sldId id="289" r:id="rId17"/>
    <p:sldId id="290" r:id="rId18"/>
    <p:sldId id="291" r:id="rId19"/>
    <p:sldId id="292" r:id="rId20"/>
    <p:sldId id="294" r:id="rId21"/>
    <p:sldId id="293" r:id="rId22"/>
    <p:sldId id="295" r:id="rId23"/>
    <p:sldId id="296" r:id="rId24"/>
    <p:sldId id="297" r:id="rId25"/>
    <p:sldId id="298" r:id="rId26"/>
    <p:sldId id="299" r:id="rId27"/>
    <p:sldId id="301" r:id="rId28"/>
    <p:sldId id="309" r:id="rId29"/>
    <p:sldId id="308" r:id="rId30"/>
    <p:sldId id="302" r:id="rId31"/>
    <p:sldId id="306" r:id="rId32"/>
    <p:sldId id="300" r:id="rId33"/>
    <p:sldId id="307" r:id="rId34"/>
    <p:sldId id="310" r:id="rId35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BA31F2E-4C30-459A-9CA2-9612E80994F8}">
  <a:tblStyle styleId="{CBA31F2E-4C30-459A-9CA2-9612E80994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003e46d1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003e46d1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0728A856-62ED-4A6B-222A-5EB7152CE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003e46d11_0_0:notes">
            <a:extLst>
              <a:ext uri="{FF2B5EF4-FFF2-40B4-BE49-F238E27FC236}">
                <a16:creationId xmlns:a16="http://schemas.microsoft.com/office/drawing/2014/main" id="{D8FE2878-D5E7-9DD3-F58D-B5D99A40D3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003e46d11_0_0:notes">
            <a:extLst>
              <a:ext uri="{FF2B5EF4-FFF2-40B4-BE49-F238E27FC236}">
                <a16:creationId xmlns:a16="http://schemas.microsoft.com/office/drawing/2014/main" id="{1B73FD21-58C1-5230-1B2A-9CE87749B1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4617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281CEE2D-729E-EF78-ABE7-CE7F3178C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003e46d11_0_0:notes">
            <a:extLst>
              <a:ext uri="{FF2B5EF4-FFF2-40B4-BE49-F238E27FC236}">
                <a16:creationId xmlns:a16="http://schemas.microsoft.com/office/drawing/2014/main" id="{A6B0188A-5394-9E91-7AC7-19F87570EC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003e46d11_0_0:notes">
            <a:extLst>
              <a:ext uri="{FF2B5EF4-FFF2-40B4-BE49-F238E27FC236}">
                <a16:creationId xmlns:a16="http://schemas.microsoft.com/office/drawing/2014/main" id="{29135F0D-3C94-8C26-6A53-829544DE6D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12845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03e46d11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003e46d11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46A33B2D-F5A2-C488-CE63-F3A598376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03e46d11_0_11:notes">
            <a:extLst>
              <a:ext uri="{FF2B5EF4-FFF2-40B4-BE49-F238E27FC236}">
                <a16:creationId xmlns:a16="http://schemas.microsoft.com/office/drawing/2014/main" id="{A1482443-57B9-D9DB-7014-278463BAEE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003e46d11_0_11:notes">
            <a:extLst>
              <a:ext uri="{FF2B5EF4-FFF2-40B4-BE49-F238E27FC236}">
                <a16:creationId xmlns:a16="http://schemas.microsoft.com/office/drawing/2014/main" id="{E38DF078-B450-EAFC-3CCC-8E9A5880A3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978144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302BFA02-8358-F162-38BC-A51F7BCCD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03e46d11_0_11:notes">
            <a:extLst>
              <a:ext uri="{FF2B5EF4-FFF2-40B4-BE49-F238E27FC236}">
                <a16:creationId xmlns:a16="http://schemas.microsoft.com/office/drawing/2014/main" id="{94D51F20-0BF9-B1DE-7C4A-24F4A0A61B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003e46d11_0_11:notes">
            <a:extLst>
              <a:ext uri="{FF2B5EF4-FFF2-40B4-BE49-F238E27FC236}">
                <a16:creationId xmlns:a16="http://schemas.microsoft.com/office/drawing/2014/main" id="{5B91F069-8030-C414-3A19-8C390FFD63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84737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523AC43F-6AFE-59E6-EEE0-2B6EEFD5F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03e46d11_0_11:notes">
            <a:extLst>
              <a:ext uri="{FF2B5EF4-FFF2-40B4-BE49-F238E27FC236}">
                <a16:creationId xmlns:a16="http://schemas.microsoft.com/office/drawing/2014/main" id="{2EAA42F3-CB76-CF93-3996-13B279EEBF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003e46d11_0_11:notes">
            <a:extLst>
              <a:ext uri="{FF2B5EF4-FFF2-40B4-BE49-F238E27FC236}">
                <a16:creationId xmlns:a16="http://schemas.microsoft.com/office/drawing/2014/main" id="{25F4B945-3E0A-B241-D7BA-01F9C5781E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80997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C7E2E5A1-A9B9-9237-2ED5-F2BF0C8DD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03e46d11_0_11:notes">
            <a:extLst>
              <a:ext uri="{FF2B5EF4-FFF2-40B4-BE49-F238E27FC236}">
                <a16:creationId xmlns:a16="http://schemas.microsoft.com/office/drawing/2014/main" id="{EFDD225D-6DB5-0E9B-8A71-7FAB8C9DD3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003e46d11_0_11:notes">
            <a:extLst>
              <a:ext uri="{FF2B5EF4-FFF2-40B4-BE49-F238E27FC236}">
                <a16:creationId xmlns:a16="http://schemas.microsoft.com/office/drawing/2014/main" id="{03AC55C1-A99D-EF98-0D17-A69AF8DDEE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2429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2EC31D72-F696-A0D4-FD6C-EA65CD631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03e46d11_0_11:notes">
            <a:extLst>
              <a:ext uri="{FF2B5EF4-FFF2-40B4-BE49-F238E27FC236}">
                <a16:creationId xmlns:a16="http://schemas.microsoft.com/office/drawing/2014/main" id="{71EB522E-12DB-37D2-53CB-08E6C21C63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003e46d11_0_11:notes">
            <a:extLst>
              <a:ext uri="{FF2B5EF4-FFF2-40B4-BE49-F238E27FC236}">
                <a16:creationId xmlns:a16="http://schemas.microsoft.com/office/drawing/2014/main" id="{6805DC17-648D-3C96-D3FE-B583C1A2D0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42710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E18B881A-3996-157D-ECF1-012099B7D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03e46d11_0_11:notes">
            <a:extLst>
              <a:ext uri="{FF2B5EF4-FFF2-40B4-BE49-F238E27FC236}">
                <a16:creationId xmlns:a16="http://schemas.microsoft.com/office/drawing/2014/main" id="{08574D81-306A-B9B1-CB19-9A19BF10E5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003e46d11_0_11:notes">
            <a:extLst>
              <a:ext uri="{FF2B5EF4-FFF2-40B4-BE49-F238E27FC236}">
                <a16:creationId xmlns:a16="http://schemas.microsoft.com/office/drawing/2014/main" id="{A564621D-C122-7966-D353-D8F23DE0F2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83265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CC19E43D-29EF-7773-3F5A-6740F5F17D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03e46d11_0_11:notes">
            <a:extLst>
              <a:ext uri="{FF2B5EF4-FFF2-40B4-BE49-F238E27FC236}">
                <a16:creationId xmlns:a16="http://schemas.microsoft.com/office/drawing/2014/main" id="{63149F30-207A-F754-619F-767D7E643C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003e46d11_0_11:notes">
            <a:extLst>
              <a:ext uri="{FF2B5EF4-FFF2-40B4-BE49-F238E27FC236}">
                <a16:creationId xmlns:a16="http://schemas.microsoft.com/office/drawing/2014/main" id="{FFD4487F-A525-39EC-0F15-FD037CBA66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79287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F466109C-DA47-3D28-7DA4-7F5F8497D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03e46d11_0_11:notes">
            <a:extLst>
              <a:ext uri="{FF2B5EF4-FFF2-40B4-BE49-F238E27FC236}">
                <a16:creationId xmlns:a16="http://schemas.microsoft.com/office/drawing/2014/main" id="{1B3D8977-1527-85A4-EE70-06339B6AD7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003e46d11_0_11:notes">
            <a:extLst>
              <a:ext uri="{FF2B5EF4-FFF2-40B4-BE49-F238E27FC236}">
                <a16:creationId xmlns:a16="http://schemas.microsoft.com/office/drawing/2014/main" id="{3C29197B-2F16-9572-F847-31E7BF86B1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4227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6F93816A-519A-25C4-8EE6-59B4C527D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03e46d11_0_11:notes">
            <a:extLst>
              <a:ext uri="{FF2B5EF4-FFF2-40B4-BE49-F238E27FC236}">
                <a16:creationId xmlns:a16="http://schemas.microsoft.com/office/drawing/2014/main" id="{1B17C99D-FB91-1E71-EA27-42DEE7B0C8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003e46d11_0_11:notes">
            <a:extLst>
              <a:ext uri="{FF2B5EF4-FFF2-40B4-BE49-F238E27FC236}">
                <a16:creationId xmlns:a16="http://schemas.microsoft.com/office/drawing/2014/main" id="{F2313D7E-251F-C612-0A12-F5D61A84B5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46824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6B58C626-5D00-50C6-BB2F-8F5981F04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03e46d11_0_11:notes">
            <a:extLst>
              <a:ext uri="{FF2B5EF4-FFF2-40B4-BE49-F238E27FC236}">
                <a16:creationId xmlns:a16="http://schemas.microsoft.com/office/drawing/2014/main" id="{887CA47A-42DB-8D92-C745-50B5823D75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003e46d11_0_11:notes">
            <a:extLst>
              <a:ext uri="{FF2B5EF4-FFF2-40B4-BE49-F238E27FC236}">
                <a16:creationId xmlns:a16="http://schemas.microsoft.com/office/drawing/2014/main" id="{BCA8CA41-6A69-FEE6-3622-51A59CE1DB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58236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DFDA3596-2811-8335-7D3E-7BBA9AEB2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03e46d11_0_11:notes">
            <a:extLst>
              <a:ext uri="{FF2B5EF4-FFF2-40B4-BE49-F238E27FC236}">
                <a16:creationId xmlns:a16="http://schemas.microsoft.com/office/drawing/2014/main" id="{94EF35D8-1A8C-ADB0-D049-A9840A801C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003e46d11_0_11:notes">
            <a:extLst>
              <a:ext uri="{FF2B5EF4-FFF2-40B4-BE49-F238E27FC236}">
                <a16:creationId xmlns:a16="http://schemas.microsoft.com/office/drawing/2014/main" id="{CE8123EA-C2B4-729D-8620-C706064DA9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03093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E416AEE3-B679-8DE3-4AC0-EBFAD2F06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03e46d11_0_11:notes">
            <a:extLst>
              <a:ext uri="{FF2B5EF4-FFF2-40B4-BE49-F238E27FC236}">
                <a16:creationId xmlns:a16="http://schemas.microsoft.com/office/drawing/2014/main" id="{4D08238E-4C90-48CD-C8EC-A54FC4E797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003e46d11_0_11:notes">
            <a:extLst>
              <a:ext uri="{FF2B5EF4-FFF2-40B4-BE49-F238E27FC236}">
                <a16:creationId xmlns:a16="http://schemas.microsoft.com/office/drawing/2014/main" id="{09F855BE-DA22-F38F-6D3C-2FACBAC698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81359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88CD5EBF-A653-5FB3-15BC-0C4384BC5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03e46d11_0_11:notes">
            <a:extLst>
              <a:ext uri="{FF2B5EF4-FFF2-40B4-BE49-F238E27FC236}">
                <a16:creationId xmlns:a16="http://schemas.microsoft.com/office/drawing/2014/main" id="{D9CE1208-6A1C-F4FF-7B27-309614B451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003e46d11_0_11:notes">
            <a:extLst>
              <a:ext uri="{FF2B5EF4-FFF2-40B4-BE49-F238E27FC236}">
                <a16:creationId xmlns:a16="http://schemas.microsoft.com/office/drawing/2014/main" id="{C50B6321-0B55-49FF-4FF6-5980C49F65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50573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DB983C85-884E-708F-0804-3445CAD71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03e46d11_0_11:notes">
            <a:extLst>
              <a:ext uri="{FF2B5EF4-FFF2-40B4-BE49-F238E27FC236}">
                <a16:creationId xmlns:a16="http://schemas.microsoft.com/office/drawing/2014/main" id="{4CC0D529-DFAA-3D82-D225-3DB0461F4A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003e46d11_0_11:notes">
            <a:extLst>
              <a:ext uri="{FF2B5EF4-FFF2-40B4-BE49-F238E27FC236}">
                <a16:creationId xmlns:a16="http://schemas.microsoft.com/office/drawing/2014/main" id="{D61944F0-80C4-FA9A-7654-A343EAA1E8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8431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BAF80AB7-FE62-B132-C956-0A5265BA0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03e46d11_0_11:notes">
            <a:extLst>
              <a:ext uri="{FF2B5EF4-FFF2-40B4-BE49-F238E27FC236}">
                <a16:creationId xmlns:a16="http://schemas.microsoft.com/office/drawing/2014/main" id="{6D1DC231-0132-0725-1630-D3D6194465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003e46d11_0_11:notes">
            <a:extLst>
              <a:ext uri="{FF2B5EF4-FFF2-40B4-BE49-F238E27FC236}">
                <a16:creationId xmlns:a16="http://schemas.microsoft.com/office/drawing/2014/main" id="{24182D37-0DC3-3AB5-1EE1-1ECB1DB78E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451341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D461F997-EFDE-7943-3CF7-C8CEE4A0F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03e46d11_0_11:notes">
            <a:extLst>
              <a:ext uri="{FF2B5EF4-FFF2-40B4-BE49-F238E27FC236}">
                <a16:creationId xmlns:a16="http://schemas.microsoft.com/office/drawing/2014/main" id="{290A6E32-1B20-9AF6-72D4-21DE7C530A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003e46d11_0_11:notes">
            <a:extLst>
              <a:ext uri="{FF2B5EF4-FFF2-40B4-BE49-F238E27FC236}">
                <a16:creationId xmlns:a16="http://schemas.microsoft.com/office/drawing/2014/main" id="{5B99BA2F-4260-64C2-2DBB-16A8540AA4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900848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D1CCD5D0-87AD-5F8D-C957-71DA3275E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03e46d11_0_11:notes">
            <a:extLst>
              <a:ext uri="{FF2B5EF4-FFF2-40B4-BE49-F238E27FC236}">
                <a16:creationId xmlns:a16="http://schemas.microsoft.com/office/drawing/2014/main" id="{3A38F9C3-5499-8350-A80B-1DA033E7A6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003e46d11_0_11:notes">
            <a:extLst>
              <a:ext uri="{FF2B5EF4-FFF2-40B4-BE49-F238E27FC236}">
                <a16:creationId xmlns:a16="http://schemas.microsoft.com/office/drawing/2014/main" id="{25DF8E58-88A5-61B7-09A5-C1199E5AD0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24235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193866DC-08CC-AAC5-4FC8-2F2F3EB70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03e46d11_0_11:notes">
            <a:extLst>
              <a:ext uri="{FF2B5EF4-FFF2-40B4-BE49-F238E27FC236}">
                <a16:creationId xmlns:a16="http://schemas.microsoft.com/office/drawing/2014/main" id="{6330EB1E-2B1C-5A5D-5082-32040D58B3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003e46d11_0_11:notes">
            <a:extLst>
              <a:ext uri="{FF2B5EF4-FFF2-40B4-BE49-F238E27FC236}">
                <a16:creationId xmlns:a16="http://schemas.microsoft.com/office/drawing/2014/main" id="{3A47F798-815B-2AB3-7B07-6FA511A88F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40828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BAC838E9-7351-7173-3FA8-13CAC42C3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03e46d11_0_11:notes">
            <a:extLst>
              <a:ext uri="{FF2B5EF4-FFF2-40B4-BE49-F238E27FC236}">
                <a16:creationId xmlns:a16="http://schemas.microsoft.com/office/drawing/2014/main" id="{B212E9FB-6CF0-B9A3-D40C-91CFED6260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003e46d11_0_11:notes">
            <a:extLst>
              <a:ext uri="{FF2B5EF4-FFF2-40B4-BE49-F238E27FC236}">
                <a16:creationId xmlns:a16="http://schemas.microsoft.com/office/drawing/2014/main" id="{A7725A54-2645-AE53-15FF-28D51EFBC9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430026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46069730-7214-92AD-1758-8031EB860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03e46d11_0_11:notes">
            <a:extLst>
              <a:ext uri="{FF2B5EF4-FFF2-40B4-BE49-F238E27FC236}">
                <a16:creationId xmlns:a16="http://schemas.microsoft.com/office/drawing/2014/main" id="{0017E714-1814-21B1-5598-E6D56C0D96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003e46d11_0_11:notes">
            <a:extLst>
              <a:ext uri="{FF2B5EF4-FFF2-40B4-BE49-F238E27FC236}">
                <a16:creationId xmlns:a16="http://schemas.microsoft.com/office/drawing/2014/main" id="{E0E447E0-46CC-9D90-5F0E-529C555756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55992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A284B35B-7611-01AF-F373-676C99B0E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03e46d11_0_11:notes">
            <a:extLst>
              <a:ext uri="{FF2B5EF4-FFF2-40B4-BE49-F238E27FC236}">
                <a16:creationId xmlns:a16="http://schemas.microsoft.com/office/drawing/2014/main" id="{FC1CD4AE-F1BA-5FD7-CCC2-1D781AC67C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003e46d11_0_11:notes">
            <a:extLst>
              <a:ext uri="{FF2B5EF4-FFF2-40B4-BE49-F238E27FC236}">
                <a16:creationId xmlns:a16="http://schemas.microsoft.com/office/drawing/2014/main" id="{9C233E2E-15F7-E30A-97EC-1A68F081C9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46764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4F757888-E820-4D10-D120-9EC55F5E2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03e46d11_0_11:notes">
            <a:extLst>
              <a:ext uri="{FF2B5EF4-FFF2-40B4-BE49-F238E27FC236}">
                <a16:creationId xmlns:a16="http://schemas.microsoft.com/office/drawing/2014/main" id="{15C2E5E5-DA09-2CF0-B677-BB23B815A7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003e46d11_0_11:notes">
            <a:extLst>
              <a:ext uri="{FF2B5EF4-FFF2-40B4-BE49-F238E27FC236}">
                <a16:creationId xmlns:a16="http://schemas.microsoft.com/office/drawing/2014/main" id="{09FB63E6-0E18-C93C-5B9F-F0A6125790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52064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ACECE679-46BD-9626-79FE-3FA42C365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03e46d11_0_11:notes">
            <a:extLst>
              <a:ext uri="{FF2B5EF4-FFF2-40B4-BE49-F238E27FC236}">
                <a16:creationId xmlns:a16="http://schemas.microsoft.com/office/drawing/2014/main" id="{0660C2D7-060E-AB63-D9CB-063FD0056C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003e46d11_0_11:notes">
            <a:extLst>
              <a:ext uri="{FF2B5EF4-FFF2-40B4-BE49-F238E27FC236}">
                <a16:creationId xmlns:a16="http://schemas.microsoft.com/office/drawing/2014/main" id="{95B1FCF6-0DFB-BA36-C560-E967EBCAB1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83381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2FA4608D-B823-312C-7B9D-78D1AE59A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03e46d11_0_11:notes">
            <a:extLst>
              <a:ext uri="{FF2B5EF4-FFF2-40B4-BE49-F238E27FC236}">
                <a16:creationId xmlns:a16="http://schemas.microsoft.com/office/drawing/2014/main" id="{84670088-5C47-45A8-F50A-C91327C32A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003e46d11_0_11:notes">
            <a:extLst>
              <a:ext uri="{FF2B5EF4-FFF2-40B4-BE49-F238E27FC236}">
                <a16:creationId xmlns:a16="http://schemas.microsoft.com/office/drawing/2014/main" id="{0762E186-4898-69E0-1B82-FCD801600D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14059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43DA02ED-0D44-3BE5-68B9-33733C4A3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03e46d11_0_11:notes">
            <a:extLst>
              <a:ext uri="{FF2B5EF4-FFF2-40B4-BE49-F238E27FC236}">
                <a16:creationId xmlns:a16="http://schemas.microsoft.com/office/drawing/2014/main" id="{2D430744-3A87-9915-9DEB-70E68D9D88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003e46d11_0_11:notes">
            <a:extLst>
              <a:ext uri="{FF2B5EF4-FFF2-40B4-BE49-F238E27FC236}">
                <a16:creationId xmlns:a16="http://schemas.microsoft.com/office/drawing/2014/main" id="{16D1DBF0-12AA-1F76-4BC1-4539EEBF13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42520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90E8AAFF-2CC9-953A-3FB8-56AC88C36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03e46d11_0_11:notes">
            <a:extLst>
              <a:ext uri="{FF2B5EF4-FFF2-40B4-BE49-F238E27FC236}">
                <a16:creationId xmlns:a16="http://schemas.microsoft.com/office/drawing/2014/main" id="{C4EBBCB5-4D24-FFBE-309E-B61EA2324B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003e46d11_0_11:notes">
            <a:extLst>
              <a:ext uri="{FF2B5EF4-FFF2-40B4-BE49-F238E27FC236}">
                <a16:creationId xmlns:a16="http://schemas.microsoft.com/office/drawing/2014/main" id="{1B5E4BF5-CBCE-022F-5762-D505D3F507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28698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9049E762-5F0F-378D-E0F6-E10EC367E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03e46d11_0_11:notes">
            <a:extLst>
              <a:ext uri="{FF2B5EF4-FFF2-40B4-BE49-F238E27FC236}">
                <a16:creationId xmlns:a16="http://schemas.microsoft.com/office/drawing/2014/main" id="{6B2C9128-D30B-A267-4D4D-406AEF7197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003e46d11_0_11:notes">
            <a:extLst>
              <a:ext uri="{FF2B5EF4-FFF2-40B4-BE49-F238E27FC236}">
                <a16:creationId xmlns:a16="http://schemas.microsoft.com/office/drawing/2014/main" id="{8C6D8179-6A7E-B02C-7E36-4AE790962F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527309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0C7AAF6A-90F1-E628-A065-CBBCE39C1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03e46d11_0_11:notes">
            <a:extLst>
              <a:ext uri="{FF2B5EF4-FFF2-40B4-BE49-F238E27FC236}">
                <a16:creationId xmlns:a16="http://schemas.microsoft.com/office/drawing/2014/main" id="{EAAABEBC-4C10-9543-ADA7-53C5CAD03F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003e46d11_0_11:notes">
            <a:extLst>
              <a:ext uri="{FF2B5EF4-FFF2-40B4-BE49-F238E27FC236}">
                <a16:creationId xmlns:a16="http://schemas.microsoft.com/office/drawing/2014/main" id="{11D0BED1-7B0C-B7DB-4364-AA08572572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860607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>
          <a:extLst>
            <a:ext uri="{FF2B5EF4-FFF2-40B4-BE49-F238E27FC236}">
              <a16:creationId xmlns:a16="http://schemas.microsoft.com/office/drawing/2014/main" id="{0A83BF17-3A07-894E-55AB-A9B8867EB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a003e46d11_0_11:notes">
            <a:extLst>
              <a:ext uri="{FF2B5EF4-FFF2-40B4-BE49-F238E27FC236}">
                <a16:creationId xmlns:a16="http://schemas.microsoft.com/office/drawing/2014/main" id="{6B7CB6A2-594E-854C-4DAF-7F9D3555DC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a003e46d11_0_11:notes">
            <a:extLst>
              <a:ext uri="{FF2B5EF4-FFF2-40B4-BE49-F238E27FC236}">
                <a16:creationId xmlns:a16="http://schemas.microsoft.com/office/drawing/2014/main" id="{B840325C-2188-BA5A-6F93-CE665DA587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1994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-11885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 dirty="0"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563880"/>
            <a:ext cx="8520600" cy="400499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572700"/>
            <a:ext cx="8520600" cy="3996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66DF324-EA61-465C-3213-3A2AB18A56C3}"/>
              </a:ext>
            </a:extLst>
          </p:cNvPr>
          <p:cNvSpPr/>
          <p:nvPr userDrawn="1"/>
        </p:nvSpPr>
        <p:spPr>
          <a:xfrm>
            <a:off x="0" y="0"/>
            <a:ext cx="9144000" cy="3936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EB2470-9349-8ACD-B8BC-587F3FD73662}"/>
              </a:ext>
            </a:extLst>
          </p:cNvPr>
          <p:cNvSpPr txBox="1"/>
          <p:nvPr userDrawn="1"/>
        </p:nvSpPr>
        <p:spPr>
          <a:xfrm>
            <a:off x="311700" y="4824919"/>
            <a:ext cx="60696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>
                <a:solidFill>
                  <a:schemeClr val="bg1">
                    <a:lumMod val="50000"/>
                  </a:schemeClr>
                </a:solidFill>
              </a:rPr>
              <a:t>Cornell EWRS Seminar | Fall 2026</a:t>
            </a:r>
          </a:p>
        </p:txBody>
      </p:sp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-895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2400" b="0" i="0" u="none" strike="noStrike" cap="none" spc="0">
          <a:solidFill>
            <a:schemeClr val="bg1">
              <a:lumMod val="95000"/>
            </a:schemeClr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7F1061C-024F-81D7-0F0A-D870321F27CE}"/>
              </a:ext>
            </a:extLst>
          </p:cNvPr>
          <p:cNvSpPr/>
          <p:nvPr/>
        </p:nvSpPr>
        <p:spPr>
          <a:xfrm>
            <a:off x="0" y="0"/>
            <a:ext cx="9144000" cy="21960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275062"/>
            <a:ext cx="8520600" cy="132957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Introduction to High-Performance Computing for Research Applications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441817" y="3538869"/>
            <a:ext cx="4814482" cy="132956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algn="r"/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n-lt"/>
                <a:ea typeface="Microsoft JhengHei" panose="020B0604030504040204" pitchFamily="34" charset="-120"/>
              </a:rPr>
              <a:t>EWRS Seminar</a:t>
            </a:r>
          </a:p>
          <a:p>
            <a:pPr algn="r"/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n-lt"/>
                <a:ea typeface="Microsoft JhengHei" panose="020B0604030504040204" pitchFamily="34" charset="-120"/>
              </a:rPr>
              <a:t>September 24</a:t>
            </a:r>
            <a:r>
              <a:rPr lang="en-US" sz="2000" baseline="30000" dirty="0">
                <a:solidFill>
                  <a:schemeClr val="bg1">
                    <a:lumMod val="50000"/>
                  </a:schemeClr>
                </a:solidFill>
                <a:latin typeface="+mn-lt"/>
                <a:ea typeface="Microsoft JhengHei" panose="020B0604030504040204" pitchFamily="34" charset="-120"/>
              </a:rPr>
              <a:t>th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n-lt"/>
                <a:ea typeface="Microsoft JhengHei" panose="020B0604030504040204" pitchFamily="34" charset="-120"/>
              </a:rPr>
              <a:t> 2026</a:t>
            </a:r>
          </a:p>
          <a:p>
            <a:pPr algn="r"/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Trevor Amestoy | Lillian Lau</a:t>
            </a:r>
            <a:endParaRPr sz="20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2300000"/>
            <a:ext cx="2606450" cy="273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 descr="Logo File Guide: How to EPS and When to JPG - Circa">
            <a:extLst>
              <a:ext uri="{FF2B5EF4-FFF2-40B4-BE49-F238E27FC236}">
                <a16:creationId xmlns:a16="http://schemas.microsoft.com/office/drawing/2014/main" id="{78198902-10BC-3157-4D72-3D0578F4B0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2800" y="1560634"/>
            <a:ext cx="871200" cy="871200"/>
          </a:xfrm>
          <a:prstGeom prst="rect">
            <a:avLst/>
          </a:prstGeom>
        </p:spPr>
      </p:pic>
      <p:pic>
        <p:nvPicPr>
          <p:cNvPr id="4" name="Picture 3" descr="Computer is carrying a keyboard and mouse, Retro Computer Cartoon Mascot  Illustration Character Vector Clip-art Hand-drawn Logo Design">
            <a:extLst>
              <a:ext uri="{FF2B5EF4-FFF2-40B4-BE49-F238E27FC236}">
                <a16:creationId xmlns:a16="http://schemas.microsoft.com/office/drawing/2014/main" id="{6959EE82-6279-E374-E7F9-D8A96661DE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2021" y="2387752"/>
            <a:ext cx="1379087" cy="127887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-10361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chemeClr val="bg1">
                    <a:lumMod val="9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Outline</a:t>
            </a:r>
            <a:endParaRPr sz="25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90697" y="863605"/>
            <a:ext cx="8441603" cy="3877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What is a High-Performance Computer?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HPC architecture &amp; terminology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SLURM basics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Command line &amp; Bash basics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Parallelization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Hopper HPC</a:t>
            </a:r>
          </a:p>
          <a:p>
            <a:pPr lvl="1">
              <a:lnSpc>
                <a:spcPct val="150000"/>
              </a:lnSpc>
            </a:pPr>
            <a:r>
              <a:rPr lang="en-US" sz="2000" dirty="0"/>
              <a:t>	Overview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	Etiquette &amp; group coordination discussion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0E1C25D8-D7AC-8A02-F18C-2605994B9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567987C2-C250-6AE2-C8C9-32C64FEF4F09}"/>
              </a:ext>
            </a:extLst>
          </p:cNvPr>
          <p:cNvSpPr txBox="1"/>
          <p:nvPr/>
        </p:nvSpPr>
        <p:spPr>
          <a:xfrm>
            <a:off x="62721" y="1018745"/>
            <a:ext cx="4338302" cy="2963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07950" lvl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</a:pPr>
            <a:r>
              <a:rPr lang="en-US" sz="18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A high-performance computer (HPC) is a large </a:t>
            </a:r>
            <a:r>
              <a:rPr lang="en-US" sz="1800" i="1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cluster</a:t>
            </a:r>
            <a:r>
              <a:rPr lang="en-US" sz="18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of compute </a:t>
            </a:r>
            <a:r>
              <a:rPr lang="en-US" sz="1800" i="1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nodes </a:t>
            </a:r>
            <a:r>
              <a:rPr lang="en-US" sz="18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and </a:t>
            </a:r>
            <a:r>
              <a:rPr lang="en-US" sz="1800" i="1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CPUs</a:t>
            </a:r>
            <a:r>
              <a:rPr lang="en-US" sz="18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designed to support large computational tasks. </a:t>
            </a:r>
          </a:p>
          <a:p>
            <a:pPr marL="107950" lvl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</a:pPr>
            <a:endParaRPr lang="en-US" sz="18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107950" lvl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</a:pPr>
            <a:r>
              <a:rPr lang="en-US" sz="18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Users can access an HPC remotely and often have a limited computational budget.</a:t>
            </a:r>
          </a:p>
        </p:txBody>
      </p:sp>
      <p:sp>
        <p:nvSpPr>
          <p:cNvPr id="2" name="Google Shape;68;p15">
            <a:extLst>
              <a:ext uri="{FF2B5EF4-FFF2-40B4-BE49-F238E27FC236}">
                <a16:creationId xmlns:a16="http://schemas.microsoft.com/office/drawing/2014/main" id="{21FD1842-396E-1E0D-4A4E-AE0B06AEBBD9}"/>
              </a:ext>
            </a:extLst>
          </p:cNvPr>
          <p:cNvSpPr txBox="1">
            <a:spLocks/>
          </p:cNvSpPr>
          <p:nvPr/>
        </p:nvSpPr>
        <p:spPr>
          <a:xfrm>
            <a:off x="311700" y="0"/>
            <a:ext cx="8520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500" dirty="0">
                <a:solidFill>
                  <a:schemeClr val="bg1">
                    <a:lumMod val="95000"/>
                  </a:schemeClr>
                </a:solidFill>
              </a:rPr>
              <a:t>What is a High-Performance Computer (HPC)?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F68CAB-D5FC-5744-3B3F-51AA4A2A6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747458"/>
            <a:ext cx="3915177" cy="20065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436131-9A29-C463-1870-3FC6AA4DB9B9}"/>
              </a:ext>
            </a:extLst>
          </p:cNvPr>
          <p:cNvSpPr txBox="1"/>
          <p:nvPr/>
        </p:nvSpPr>
        <p:spPr>
          <a:xfrm>
            <a:off x="4559122" y="2753986"/>
            <a:ext cx="45848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buNone/>
            </a:pPr>
            <a:r>
              <a:rPr lang="en-US" sz="1050" b="0" i="0" dirty="0">
                <a:solidFill>
                  <a:schemeClr val="bg1">
                    <a:lumMod val="50000"/>
                  </a:schemeClr>
                </a:solidFill>
                <a:effectLst/>
                <a:latin typeface="Arial"/>
              </a:rPr>
              <a:t>NSF-funded Frontera HPC at </a:t>
            </a:r>
            <a:r>
              <a:rPr lang="en-US" sz="105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Arial"/>
              </a:rPr>
              <a:t>U</a:t>
            </a:r>
            <a:r>
              <a:rPr lang="en-US" sz="1050" dirty="0" err="1">
                <a:solidFill>
                  <a:schemeClr val="bg1">
                    <a:lumMod val="50000"/>
                  </a:schemeClr>
                </a:solidFill>
              </a:rPr>
              <a:t>T</a:t>
            </a:r>
            <a:r>
              <a:rPr lang="en-US" sz="1050" b="0" i="0" dirty="0" err="1">
                <a:solidFill>
                  <a:schemeClr val="bg1">
                    <a:lumMod val="50000"/>
                  </a:schemeClr>
                </a:solidFill>
                <a:effectLst/>
                <a:latin typeface="Arial"/>
              </a:rPr>
              <a:t>Austin</a:t>
            </a:r>
            <a:r>
              <a:rPr lang="en-US" sz="1050" b="0" i="0" dirty="0">
                <a:solidFill>
                  <a:schemeClr val="bg1">
                    <a:lumMod val="50000"/>
                  </a:schemeClr>
                </a:solidFill>
                <a:effectLst/>
                <a:latin typeface="Arial"/>
              </a:rPr>
              <a:t>.</a:t>
            </a:r>
          </a:p>
          <a:p>
            <a:pPr indent="0">
              <a:buNone/>
            </a:pPr>
            <a:r>
              <a:rPr lang="en-US" sz="1050" b="0" i="0" dirty="0">
                <a:solidFill>
                  <a:schemeClr val="bg1">
                    <a:lumMod val="50000"/>
                  </a:schemeClr>
                </a:solidFill>
                <a:effectLst/>
                <a:latin typeface="Arial"/>
              </a:rPr>
              <a:t>Credit: Texas Advanced Computing Center</a:t>
            </a:r>
            <a:endParaRPr lang="en-US" sz="1050" b="0" i="0" dirty="0">
              <a:solidFill>
                <a:schemeClr val="bg1">
                  <a:lumMod val="50000"/>
                </a:schemeClr>
              </a:solidFill>
              <a:effectLst/>
              <a:latin typeface="Open Sans" panose="020B0606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A73E8F-F00E-40EB-8E14-51467B175E67}"/>
              </a:ext>
            </a:extLst>
          </p:cNvPr>
          <p:cNvSpPr txBox="1"/>
          <p:nvPr/>
        </p:nvSpPr>
        <p:spPr>
          <a:xfrm>
            <a:off x="4742978" y="3429424"/>
            <a:ext cx="4089322" cy="917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7950" lvl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</a:pPr>
            <a:r>
              <a:rPr lang="en-US" sz="1600" i="1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You may be able to gain access to an HPC through academic collaborations, research grants, or individual funding.</a:t>
            </a:r>
          </a:p>
        </p:txBody>
      </p:sp>
    </p:spTree>
    <p:extLst>
      <p:ext uri="{BB962C8B-B14F-4D97-AF65-F5344CB8AC3E}">
        <p14:creationId xmlns:p14="http://schemas.microsoft.com/office/powerpoint/2010/main" val="643749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B05CDD76-DA39-C669-6991-B43F393AE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>
            <a:extLst>
              <a:ext uri="{FF2B5EF4-FFF2-40B4-BE49-F238E27FC236}">
                <a16:creationId xmlns:a16="http://schemas.microsoft.com/office/drawing/2014/main" id="{08B9EDE9-F89A-7092-7F94-B7DFB78CCF03}"/>
              </a:ext>
            </a:extLst>
          </p:cNvPr>
          <p:cNvSpPr txBox="1"/>
          <p:nvPr/>
        </p:nvSpPr>
        <p:spPr>
          <a:xfrm>
            <a:off x="169024" y="651600"/>
            <a:ext cx="4338302" cy="4084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07950" lvl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00"/>
            </a:pPr>
            <a:r>
              <a:rPr lang="en" sz="1800" b="1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Cluster: </a:t>
            </a:r>
            <a:r>
              <a:rPr lang="en" sz="18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a group of computing nodes</a:t>
            </a:r>
            <a:endParaRPr sz="1800" dirty="0">
              <a:solidFill>
                <a:schemeClr val="dk1"/>
              </a:solidFill>
              <a:latin typeface="+mn-lt"/>
            </a:endParaRPr>
          </a:p>
          <a:p>
            <a:pPr marL="1079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</a:pPr>
            <a:endParaRPr lang="en" sz="1800" b="1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1079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</a:pPr>
            <a:r>
              <a:rPr lang="en" sz="1800" b="1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Node: </a:t>
            </a:r>
            <a:r>
              <a:rPr lang="en" sz="18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a discrete unit of a computer system that typically runs its own instance of an operating system. Modern nodes have multiple chips (CPUs) which may each contain multiple cores.</a:t>
            </a:r>
            <a:endParaRPr sz="18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1079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</a:pPr>
            <a:endParaRPr lang="en" sz="1800" b="1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1079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</a:pPr>
            <a:r>
              <a:rPr lang="en" sz="1800" b="1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Core:</a:t>
            </a:r>
            <a:r>
              <a:rPr lang="en" sz="1800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 a computing unit capable of processing a separate stream of instructions</a:t>
            </a:r>
            <a:endParaRPr sz="1800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68;p15">
            <a:extLst>
              <a:ext uri="{FF2B5EF4-FFF2-40B4-BE49-F238E27FC236}">
                <a16:creationId xmlns:a16="http://schemas.microsoft.com/office/drawing/2014/main" id="{0636FBE8-C73E-2BEA-DAF3-F0EE712BA22B}"/>
              </a:ext>
            </a:extLst>
          </p:cNvPr>
          <p:cNvSpPr txBox="1">
            <a:spLocks/>
          </p:cNvSpPr>
          <p:nvPr/>
        </p:nvSpPr>
        <p:spPr>
          <a:xfrm>
            <a:off x="311700" y="0"/>
            <a:ext cx="8520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500" dirty="0">
                <a:solidFill>
                  <a:schemeClr val="bg1">
                    <a:lumMod val="95000"/>
                  </a:schemeClr>
                </a:solidFill>
              </a:rPr>
              <a:t>Anatomy of an HPC resource</a:t>
            </a:r>
          </a:p>
        </p:txBody>
      </p:sp>
      <p:pic>
        <p:nvPicPr>
          <p:cNvPr id="6" name="Google Shape;63;p14">
            <a:extLst>
              <a:ext uri="{FF2B5EF4-FFF2-40B4-BE49-F238E27FC236}">
                <a16:creationId xmlns:a16="http://schemas.microsoft.com/office/drawing/2014/main" id="{485E1F3A-D883-52A7-87E2-6D03D1F4938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00646" y="1057598"/>
            <a:ext cx="4743354" cy="27752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93993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411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SLURM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11700" y="500202"/>
            <a:ext cx="8424600" cy="142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SLURM: Simple Linux Utility for Resource Management</a:t>
            </a:r>
            <a:endParaRPr sz="19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it is:</a:t>
            </a:r>
            <a:r>
              <a:rPr lang="en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job scheduler which handles resource (node, core) allocation.</a:t>
            </a: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1E25338-9B9E-EA94-20CE-17A3E31585DD}"/>
              </a:ext>
            </a:extLst>
          </p:cNvPr>
          <p:cNvSpPr/>
          <p:nvPr/>
        </p:nvSpPr>
        <p:spPr>
          <a:xfrm>
            <a:off x="6720840" y="3995956"/>
            <a:ext cx="1623060" cy="64734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Node C: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Your job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CFAC88C-F16E-5326-8223-D5B3A248D96C}"/>
              </a:ext>
            </a:extLst>
          </p:cNvPr>
          <p:cNvSpPr/>
          <p:nvPr/>
        </p:nvSpPr>
        <p:spPr>
          <a:xfrm>
            <a:off x="6720840" y="3073041"/>
            <a:ext cx="1623060" cy="64734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Node B: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Empty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A1B5F5-0BD5-29CD-AFA8-9B6EDFF90C1D}"/>
              </a:ext>
            </a:extLst>
          </p:cNvPr>
          <p:cNvSpPr/>
          <p:nvPr/>
        </p:nvSpPr>
        <p:spPr>
          <a:xfrm>
            <a:off x="6720840" y="2157925"/>
            <a:ext cx="1623060" cy="647342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Node A: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Someone’s job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48694CF-4F0D-1DA6-90D5-ACBA863D2236}"/>
              </a:ext>
            </a:extLst>
          </p:cNvPr>
          <p:cNvSpPr/>
          <p:nvPr/>
        </p:nvSpPr>
        <p:spPr>
          <a:xfrm>
            <a:off x="3787140" y="2675727"/>
            <a:ext cx="1264920" cy="126492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SLURM</a:t>
            </a:r>
          </a:p>
        </p:txBody>
      </p:sp>
      <p:pic>
        <p:nvPicPr>
          <p:cNvPr id="7" name="Graphic 6" descr="User outline">
            <a:extLst>
              <a:ext uri="{FF2B5EF4-FFF2-40B4-BE49-F238E27FC236}">
                <a16:creationId xmlns:a16="http://schemas.microsoft.com/office/drawing/2014/main" id="{5972F789-AE04-1BE9-DCA1-5681830A93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560" y="2622746"/>
            <a:ext cx="914400" cy="914400"/>
          </a:xfrm>
          <a:prstGeom prst="rect">
            <a:avLst/>
          </a:prstGeom>
        </p:spPr>
      </p:pic>
      <p:pic>
        <p:nvPicPr>
          <p:cNvPr id="9" name="Graphic 8" descr="Computer with solid fill">
            <a:extLst>
              <a:ext uri="{FF2B5EF4-FFF2-40B4-BE49-F238E27FC236}">
                <a16:creationId xmlns:a16="http://schemas.microsoft.com/office/drawing/2014/main" id="{C126E5EB-787F-A2C5-BB2C-F6F238C26A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7760" y="2995410"/>
            <a:ext cx="914400" cy="9144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C10182B-30FB-8567-C93B-66F5CE90A410}"/>
              </a:ext>
            </a:extLst>
          </p:cNvPr>
          <p:cNvCxnSpPr/>
          <p:nvPr/>
        </p:nvCxnSpPr>
        <p:spPr>
          <a:xfrm>
            <a:off x="2270760" y="3073041"/>
            <a:ext cx="12420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3D435C4-CEEF-32E5-281F-C7587817D0AA}"/>
              </a:ext>
            </a:extLst>
          </p:cNvPr>
          <p:cNvCxnSpPr>
            <a:cxnSpLocks/>
          </p:cNvCxnSpPr>
          <p:nvPr/>
        </p:nvCxnSpPr>
        <p:spPr>
          <a:xfrm flipH="1">
            <a:off x="2270760" y="3370221"/>
            <a:ext cx="12420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4551A5C-90F9-7982-BF0A-BC304FC3496E}"/>
              </a:ext>
            </a:extLst>
          </p:cNvPr>
          <p:cNvGrpSpPr/>
          <p:nvPr/>
        </p:nvGrpSpPr>
        <p:grpSpPr>
          <a:xfrm rot="1818885">
            <a:off x="5196840" y="3745757"/>
            <a:ext cx="1242060" cy="297180"/>
            <a:chOff x="5151120" y="3006449"/>
            <a:chExt cx="1242060" cy="297180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95777122-5075-13B5-4286-F9F7D4ED53D1}"/>
                </a:ext>
              </a:extLst>
            </p:cNvPr>
            <p:cNvCxnSpPr/>
            <p:nvPr/>
          </p:nvCxnSpPr>
          <p:spPr>
            <a:xfrm>
              <a:off x="5151120" y="3006449"/>
              <a:ext cx="124206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6EE7172-EC09-CD96-8A6F-2334151A92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1120" y="3303629"/>
              <a:ext cx="124206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EBD4BF9-EA90-F90D-52D3-BE57015B51B8}"/>
              </a:ext>
            </a:extLst>
          </p:cNvPr>
          <p:cNvGrpSpPr/>
          <p:nvPr/>
        </p:nvGrpSpPr>
        <p:grpSpPr>
          <a:xfrm rot="20423283">
            <a:off x="5181932" y="2521404"/>
            <a:ext cx="1242060" cy="297180"/>
            <a:chOff x="5151120" y="3006449"/>
            <a:chExt cx="1242060" cy="297180"/>
          </a:xfrm>
        </p:grpSpPr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C7B1DE5-316B-52D4-F536-A5FF24C7149C}"/>
                </a:ext>
              </a:extLst>
            </p:cNvPr>
            <p:cNvCxnSpPr/>
            <p:nvPr/>
          </p:nvCxnSpPr>
          <p:spPr>
            <a:xfrm>
              <a:off x="5151120" y="3006449"/>
              <a:ext cx="124206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1506650-2447-D0FA-7039-CA45AF2FB1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1120" y="3303629"/>
              <a:ext cx="124206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FA8BF9A9-6526-3532-93DD-EC48D49E9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8E65AF92-EA48-DD8B-225C-C14DE8D07C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411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SLURM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ED942D9D-AECA-F59E-C381-07EE71771B6D}"/>
              </a:ext>
            </a:extLst>
          </p:cNvPr>
          <p:cNvSpPr txBox="1"/>
          <p:nvPr/>
        </p:nvSpPr>
        <p:spPr>
          <a:xfrm>
            <a:off x="311700" y="500202"/>
            <a:ext cx="8424600" cy="1011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SLURM: Simple Linux Utility for Resource Management</a:t>
            </a: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900" b="1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does it work? </a:t>
            </a:r>
            <a:endParaRPr lang="en-US"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76;p16">
            <a:extLst>
              <a:ext uri="{FF2B5EF4-FFF2-40B4-BE49-F238E27FC236}">
                <a16:creationId xmlns:a16="http://schemas.microsoft.com/office/drawing/2014/main" id="{726396A6-A272-B71C-56D7-B12C98984AF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5399" y="1174175"/>
            <a:ext cx="5566901" cy="382097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7;p16">
            <a:extLst>
              <a:ext uri="{FF2B5EF4-FFF2-40B4-BE49-F238E27FC236}">
                <a16:creationId xmlns:a16="http://schemas.microsoft.com/office/drawing/2014/main" id="{3EFE8ADD-7A61-C2DB-C5CC-09C4F881DC65}"/>
              </a:ext>
            </a:extLst>
          </p:cNvPr>
          <p:cNvSpPr/>
          <p:nvPr/>
        </p:nvSpPr>
        <p:spPr>
          <a:xfrm>
            <a:off x="6375549" y="1989425"/>
            <a:ext cx="1913400" cy="1271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SLURM directives</a:t>
            </a:r>
            <a:endParaRPr/>
          </a:p>
        </p:txBody>
      </p:sp>
      <p:sp>
        <p:nvSpPr>
          <p:cNvPr id="7" name="Google Shape;78;p16">
            <a:extLst>
              <a:ext uri="{FF2B5EF4-FFF2-40B4-BE49-F238E27FC236}">
                <a16:creationId xmlns:a16="http://schemas.microsoft.com/office/drawing/2014/main" id="{8927F33D-1851-85D2-C776-4287558B1D08}"/>
              </a:ext>
            </a:extLst>
          </p:cNvPr>
          <p:cNvSpPr/>
          <p:nvPr/>
        </p:nvSpPr>
        <p:spPr>
          <a:xfrm>
            <a:off x="5765874" y="1969950"/>
            <a:ext cx="609600" cy="1271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9;p16">
            <a:extLst>
              <a:ext uri="{FF2B5EF4-FFF2-40B4-BE49-F238E27FC236}">
                <a16:creationId xmlns:a16="http://schemas.microsoft.com/office/drawing/2014/main" id="{189620EC-2412-9342-C480-700596080536}"/>
              </a:ext>
            </a:extLst>
          </p:cNvPr>
          <p:cNvSpPr/>
          <p:nvPr/>
        </p:nvSpPr>
        <p:spPr>
          <a:xfrm>
            <a:off x="6375549" y="3604338"/>
            <a:ext cx="1913400" cy="629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 modules and environment</a:t>
            </a:r>
            <a:endParaRPr/>
          </a:p>
        </p:txBody>
      </p:sp>
      <p:sp>
        <p:nvSpPr>
          <p:cNvPr id="11" name="Google Shape;80;p16">
            <a:extLst>
              <a:ext uri="{FF2B5EF4-FFF2-40B4-BE49-F238E27FC236}">
                <a16:creationId xmlns:a16="http://schemas.microsoft.com/office/drawing/2014/main" id="{D9B9D200-FEC8-DB24-B69B-9CC60D767191}"/>
              </a:ext>
            </a:extLst>
          </p:cNvPr>
          <p:cNvSpPr/>
          <p:nvPr/>
        </p:nvSpPr>
        <p:spPr>
          <a:xfrm>
            <a:off x="5765874" y="3594700"/>
            <a:ext cx="609600" cy="629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81;p16">
            <a:extLst>
              <a:ext uri="{FF2B5EF4-FFF2-40B4-BE49-F238E27FC236}">
                <a16:creationId xmlns:a16="http://schemas.microsoft.com/office/drawing/2014/main" id="{B8AFF476-8AC4-1F75-EC32-B9AC97406BA1}"/>
              </a:ext>
            </a:extLst>
          </p:cNvPr>
          <p:cNvSpPr/>
          <p:nvPr/>
        </p:nvSpPr>
        <p:spPr>
          <a:xfrm>
            <a:off x="6375549" y="4529796"/>
            <a:ext cx="1913400" cy="289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 script</a:t>
            </a: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3282A23-643A-F4D9-EDEC-DE0616F7F89F}"/>
              </a:ext>
            </a:extLst>
          </p:cNvPr>
          <p:cNvSpPr txBox="1"/>
          <p:nvPr/>
        </p:nvSpPr>
        <p:spPr>
          <a:xfrm>
            <a:off x="162678" y="1299105"/>
            <a:ext cx="3006721" cy="375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lang="en-US"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Specify SLURM settings</a:t>
            </a:r>
          </a:p>
          <a:p>
            <a:pPr marL="457200" lvl="0" indent="-457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AutoNum type="arabicPeriod"/>
            </a:pPr>
            <a:endParaRPr lang="en-U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Include all your command line instructions</a:t>
            </a:r>
          </a:p>
          <a:p>
            <a:pPr marL="457200" lvl="0" indent="-457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AutoNum type="arabicPeriod"/>
            </a:pPr>
            <a:endParaRPr lang="en-US"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Submit the script using </a:t>
            </a:r>
            <a:r>
              <a:rPr lang="en-US" sz="18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submit my_job.sh</a:t>
            </a:r>
          </a:p>
          <a:p>
            <a:pPr marL="457200" lvl="0" indent="-4572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AutoNum type="arabicPeriod"/>
            </a:pPr>
            <a:endParaRPr lang="en-US"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5A3B07-6DCC-35CE-D1C3-06219229153E}"/>
              </a:ext>
            </a:extLst>
          </p:cNvPr>
          <p:cNvSpPr/>
          <p:nvPr/>
        </p:nvSpPr>
        <p:spPr>
          <a:xfrm>
            <a:off x="3265399" y="1184633"/>
            <a:ext cx="4423181" cy="2911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Example SLURM job file: </a:t>
            </a:r>
            <a:r>
              <a:rPr lang="en-US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my_job.sh</a:t>
            </a:r>
            <a:endParaRPr 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63861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59D761D7-D42C-A0D5-7B45-278C41DC7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9FC22937-8108-7522-B914-EBD6DA6E95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411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SLURM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6E55B3E9-1212-B43C-A336-F74EF3D72F9A}"/>
              </a:ext>
            </a:extLst>
          </p:cNvPr>
          <p:cNvSpPr txBox="1"/>
          <p:nvPr/>
        </p:nvSpPr>
        <p:spPr>
          <a:xfrm>
            <a:off x="311700" y="500202"/>
            <a:ext cx="8424600" cy="1837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 sz="19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SLURM: Simple Linux Utility for Resource Management</a:t>
            </a:r>
            <a:endParaRPr sz="19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9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Essential commands:</a:t>
            </a:r>
          </a:p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0" name="Google Shape;70;p15">
            <a:extLst>
              <a:ext uri="{FF2B5EF4-FFF2-40B4-BE49-F238E27FC236}">
                <a16:creationId xmlns:a16="http://schemas.microsoft.com/office/drawing/2014/main" id="{D1202EDC-8D83-DAC7-5387-BE215A27BF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029943"/>
              </p:ext>
            </p:extLst>
          </p:nvPr>
        </p:nvGraphicFramePr>
        <p:xfrm>
          <a:off x="904500" y="2153425"/>
          <a:ext cx="7239000" cy="2194410"/>
        </p:xfrm>
        <a:graphic>
          <a:graphicData uri="http://schemas.openxmlformats.org/drawingml/2006/table">
            <a:tbl>
              <a:tblPr>
                <a:noFill/>
                <a:tableStyleId>{CBA31F2E-4C30-459A-9CA2-9612E80994F8}</a:tableStyleId>
              </a:tblPr>
              <a:tblGrid>
                <a:gridCol w="1402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3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Command</a:t>
                      </a:r>
                      <a:endParaRPr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What does it do?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Example</a:t>
                      </a:r>
                      <a:endParaRPr b="1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sbatch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Submit a job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sbatch my_job.sh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squeue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View the queue status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squeue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scancel 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cancel jobs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scancel -u tja73</a:t>
                      </a:r>
                      <a:endParaRPr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scancel 12345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sinfo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View the cluster allocation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/>
                        <a:t>sinfo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2824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B532EF26-B50B-61BD-975B-166EBDFFC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AED33258-4BC4-0AD7-46F9-4C7AB43C93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411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Command line &amp; bash basics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8F61F5EC-A341-2E9A-7558-F032DCD201D1}"/>
              </a:ext>
            </a:extLst>
          </p:cNvPr>
          <p:cNvSpPr txBox="1"/>
          <p:nvPr/>
        </p:nvSpPr>
        <p:spPr>
          <a:xfrm>
            <a:off x="311700" y="595552"/>
            <a:ext cx="8424600" cy="597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9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Basic Bash skills are necessary to interact with the HPC</a:t>
            </a:r>
            <a:endParaRPr sz="19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 descr="Meme: &quot;Are you scared??&quot; - All Templates - Meme-arsenal.com">
            <a:extLst>
              <a:ext uri="{FF2B5EF4-FFF2-40B4-BE49-F238E27FC236}">
                <a16:creationId xmlns:a16="http://schemas.microsoft.com/office/drawing/2014/main" id="{507338F1-9C6E-7F52-4F1E-C7A5985D15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529" b="6789"/>
          <a:stretch>
            <a:fillRect/>
          </a:stretch>
        </p:blipFill>
        <p:spPr>
          <a:xfrm>
            <a:off x="969817" y="1750674"/>
            <a:ext cx="2438400" cy="1642152"/>
          </a:xfrm>
          <a:prstGeom prst="rect">
            <a:avLst/>
          </a:prstGeom>
        </p:spPr>
      </p:pic>
      <p:pic>
        <p:nvPicPr>
          <p:cNvPr id="3" name="Picture 2" descr="Bash (Unix shell) - Wikipedia">
            <a:extLst>
              <a:ext uri="{FF2B5EF4-FFF2-40B4-BE49-F238E27FC236}">
                <a16:creationId xmlns:a16="http://schemas.microsoft.com/office/drawing/2014/main" id="{23B353F6-03D4-3D1C-27F5-ADC7F47420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7218" y="566279"/>
            <a:ext cx="1752600" cy="7393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1CC9E7-625B-E018-0D95-AF3592DC9B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4565" y="1702888"/>
            <a:ext cx="4399789" cy="29837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51823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C8EC2DF4-793F-E171-71DA-9857403B5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E06A337A-5563-1A3F-13A3-8A231B9044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411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Command line &amp; bash basics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9" name="Google Shape;69;p15">
            <a:extLst>
              <a:ext uri="{FF2B5EF4-FFF2-40B4-BE49-F238E27FC236}">
                <a16:creationId xmlns:a16="http://schemas.microsoft.com/office/drawing/2014/main" id="{13A54B21-3DCC-D91D-3705-2F2CC00CFFD5}"/>
              </a:ext>
            </a:extLst>
          </p:cNvPr>
          <p:cNvSpPr txBox="1"/>
          <p:nvPr/>
        </p:nvSpPr>
        <p:spPr>
          <a:xfrm>
            <a:off x="311700" y="500202"/>
            <a:ext cx="8424600" cy="934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9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full Bash training is beyond the scope of this seminar, but in my experience you only need a handful of commands:</a:t>
            </a:r>
            <a:endParaRPr sz="1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0" name="Google Shape;70;p15">
            <a:extLst>
              <a:ext uri="{FF2B5EF4-FFF2-40B4-BE49-F238E27FC236}">
                <a16:creationId xmlns:a16="http://schemas.microsoft.com/office/drawing/2014/main" id="{FED81661-5407-764C-70CE-2F1096C9645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014063"/>
              </p:ext>
            </p:extLst>
          </p:nvPr>
        </p:nvGraphicFramePr>
        <p:xfrm>
          <a:off x="904500" y="1800134"/>
          <a:ext cx="7239000" cy="1981050"/>
        </p:xfrm>
        <a:graphic>
          <a:graphicData uri="http://schemas.openxmlformats.org/drawingml/2006/table">
            <a:tbl>
              <a:tblPr>
                <a:noFill/>
                <a:tableStyleId>{CBA31F2E-4C30-459A-9CA2-9612E80994F8}</a:tableStyleId>
              </a:tblPr>
              <a:tblGrid>
                <a:gridCol w="161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Command</a:t>
                      </a:r>
                      <a:endParaRPr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What does it do?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Example</a:t>
                      </a:r>
                      <a:endParaRPr b="1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cd 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Change current directory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cd ../</a:t>
                      </a:r>
                      <a:r>
                        <a:rPr lang="en-US" dirty="0" err="1"/>
                        <a:t>new_folder</a:t>
                      </a:r>
                      <a:r>
                        <a:rPr lang="en-US" dirty="0"/>
                        <a:t>/path/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ls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List the contents of a directory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ls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/>
                        <a:t>mkdir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Make a new directory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 err="1"/>
                        <a:t>mkdir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new_folder_name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cp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Copy a file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cp ./</a:t>
                      </a:r>
                      <a:r>
                        <a:rPr lang="en-US" dirty="0" err="1"/>
                        <a:t>FileA</a:t>
                      </a:r>
                      <a:r>
                        <a:rPr lang="en-US" dirty="0"/>
                        <a:t> ./</a:t>
                      </a:r>
                      <a:r>
                        <a:rPr lang="en-US" dirty="0" err="1"/>
                        <a:t>FileA_copy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8108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03FF6B25-C908-CA53-2247-12D9A2281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687E51CC-43EC-38F8-A7C7-256DD26603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411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Parallelization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Google Shape;87;p17">
            <a:extLst>
              <a:ext uri="{FF2B5EF4-FFF2-40B4-BE49-F238E27FC236}">
                <a16:creationId xmlns:a16="http://schemas.microsoft.com/office/drawing/2014/main" id="{7DB1EEDC-6F1E-DA7E-3E71-6B7A63138C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573110"/>
            <a:ext cx="8520600" cy="39049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take the time to parallelize code?</a:t>
            </a:r>
            <a:endParaRPr lang="en-US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1800">
              <a:spcBef>
                <a:spcPts val="800"/>
              </a:spcBef>
              <a:buClr>
                <a:schemeClr val="dk1"/>
              </a:buClr>
              <a:buSzPts val="2200"/>
            </a:pP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Make your code run faster! </a:t>
            </a:r>
          </a:p>
          <a:p>
            <a:pPr marL="431800">
              <a:spcBef>
                <a:spcPts val="800"/>
              </a:spcBef>
              <a:buClr>
                <a:schemeClr val="dk1"/>
              </a:buClr>
              <a:buSzPts val="2200"/>
            </a:pPr>
            <a:endParaRPr lang="en-US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8900" indent="0">
              <a:spcBef>
                <a:spcPts val="800"/>
              </a:spcBef>
              <a:buClr>
                <a:schemeClr val="dk1"/>
              </a:buClr>
              <a:buSzPts val="2200"/>
              <a:buNone/>
            </a:pP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 </a:t>
            </a:r>
            <a:r>
              <a:rPr lang="en-US" sz="2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are some other reasons?</a:t>
            </a:r>
          </a:p>
        </p:txBody>
      </p:sp>
    </p:spTree>
    <p:extLst>
      <p:ext uri="{BB962C8B-B14F-4D97-AF65-F5344CB8AC3E}">
        <p14:creationId xmlns:p14="http://schemas.microsoft.com/office/powerpoint/2010/main" val="1271233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E9ABF9CA-4317-07A1-025A-F39E7F86B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F423BDC7-350D-4308-4782-8BD86569F7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411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Parallelization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Google Shape;87;p17">
            <a:extLst>
              <a:ext uri="{FF2B5EF4-FFF2-40B4-BE49-F238E27FC236}">
                <a16:creationId xmlns:a16="http://schemas.microsoft.com/office/drawing/2014/main" id="{739ED2DD-8601-E695-2CAC-AAE276EB85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573110"/>
            <a:ext cx="8520600" cy="39049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take the time to parallelize code?</a:t>
            </a:r>
            <a:endParaRPr lang="en-US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1800">
              <a:spcBef>
                <a:spcPts val="800"/>
              </a:spcBef>
              <a:buClr>
                <a:schemeClr val="dk1"/>
              </a:buClr>
              <a:buSzPts val="2200"/>
            </a:pP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Make your code run faster!</a:t>
            </a:r>
          </a:p>
          <a:p>
            <a:pPr marL="431800">
              <a:spcBef>
                <a:spcPts val="800"/>
              </a:spcBef>
              <a:buClr>
                <a:schemeClr val="dk1"/>
              </a:buClr>
              <a:buSzPts val="2200"/>
            </a:pPr>
            <a:endParaRPr lang="en-US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1800">
              <a:spcBef>
                <a:spcPts val="800"/>
              </a:spcBef>
              <a:buClr>
                <a:schemeClr val="dk1"/>
              </a:buClr>
              <a:buSzPts val="2200"/>
            </a:pP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new research opportunities due to your availability handle larger scale and more computationally intensive problems.</a:t>
            </a:r>
          </a:p>
          <a:p>
            <a:pPr marL="571500" lvl="1" indent="0">
              <a:spcBef>
                <a:spcPts val="800"/>
              </a:spcBef>
              <a:buClr>
                <a:schemeClr val="dk1"/>
              </a:buClr>
              <a:buSzPts val="2200"/>
              <a:buNone/>
            </a:pPr>
            <a:r>
              <a:rPr lang="en-US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(Don’t let your compute resource define your research potential)</a:t>
            </a:r>
          </a:p>
          <a:p>
            <a:pPr marL="431800">
              <a:spcBef>
                <a:spcPts val="800"/>
              </a:spcBef>
              <a:buClr>
                <a:schemeClr val="dk1"/>
              </a:buClr>
              <a:buSzPts val="2200"/>
            </a:pPr>
            <a:endParaRPr lang="en-US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1800">
              <a:spcBef>
                <a:spcPts val="800"/>
              </a:spcBef>
              <a:buClr>
                <a:schemeClr val="dk1"/>
              </a:buClr>
              <a:buSzPts val="2200"/>
            </a:pP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Save money &amp; resources when using a limited HPC allocation budget</a:t>
            </a:r>
          </a:p>
          <a:p>
            <a:pPr marL="431800">
              <a:spcBef>
                <a:spcPts val="800"/>
              </a:spcBef>
              <a:buClr>
                <a:schemeClr val="dk1"/>
              </a:buClr>
              <a:buSzPts val="2200"/>
            </a:pPr>
            <a:endParaRPr lang="en-US" sz="22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31800">
              <a:spcBef>
                <a:spcPts val="800"/>
              </a:spcBef>
              <a:buClr>
                <a:schemeClr val="dk1"/>
              </a:buClr>
              <a:buSzPts val="2200"/>
            </a:pPr>
            <a:endParaRPr lang="en-US" sz="220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88900" indent="0">
              <a:spcBef>
                <a:spcPts val="800"/>
              </a:spcBef>
              <a:buClr>
                <a:schemeClr val="dk1"/>
              </a:buClr>
              <a:buSzPts val="2200"/>
              <a:buNone/>
            </a:pPr>
            <a:endParaRPr lang="en-US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79909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6A0B3D6E-7CBE-758D-040C-43109450F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1855F912-0897-C238-883D-FF00553469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411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Parallelization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Google Shape;87;p17">
            <a:extLst>
              <a:ext uri="{FF2B5EF4-FFF2-40B4-BE49-F238E27FC236}">
                <a16:creationId xmlns:a16="http://schemas.microsoft.com/office/drawing/2014/main" id="{3CD733CF-7617-7137-1CA0-97CAC14A75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06167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Running on p processors </a:t>
            </a:r>
            <a:r>
              <a:rPr lang="en" sz="2200" b="1" dirty="0">
                <a:solidFill>
                  <a:schemeClr val="dk1"/>
                </a:solidFill>
              </a:rPr>
              <a:t>≠</a:t>
            </a:r>
            <a:r>
              <a:rPr lang="en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speedup of p</a:t>
            </a:r>
            <a:endParaRPr sz="2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algorithms will parallelize differently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Char char="●"/>
            </a:pPr>
            <a:r>
              <a:rPr lang="en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Parallel efficiency can be difficult to achieve due to: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69900" lvl="0" indent="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</a:rPr>
              <a:t>–</a:t>
            </a:r>
            <a:r>
              <a:rPr lang="en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Overhead costs: communication, synchronization, memory traffic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69900" lvl="0" indent="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</a:rPr>
              <a:t>–</a:t>
            </a:r>
            <a:r>
              <a:rPr lang="en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Intrinsically serial work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69900" lvl="0" indent="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</a:rPr>
              <a:t>–</a:t>
            </a:r>
            <a:r>
              <a:rPr lang="en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Idle time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69900" lvl="0" indent="0" algn="l" rtl="0"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dirty="0">
                <a:solidFill>
                  <a:schemeClr val="dk1"/>
                </a:solidFill>
              </a:rPr>
              <a:t>–</a:t>
            </a:r>
            <a:r>
              <a:rPr lang="en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Contention for resources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200" dirty="0"/>
          </a:p>
        </p:txBody>
      </p:sp>
    </p:spTree>
    <p:extLst>
      <p:ext uri="{BB962C8B-B14F-4D97-AF65-F5344CB8AC3E}">
        <p14:creationId xmlns:p14="http://schemas.microsoft.com/office/powerpoint/2010/main" val="4176284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781E6073-C51E-0930-54D0-AA8024543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ED6B1D3D-206F-DD09-31BB-8F036C4224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411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Parallelization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Google Shape;93;p18">
            <a:extLst>
              <a:ext uri="{FF2B5EF4-FFF2-40B4-BE49-F238E27FC236}">
                <a16:creationId xmlns:a16="http://schemas.microsoft.com/office/drawing/2014/main" id="{D94E86AF-7A2F-4934-B501-775CBD7D413B}"/>
              </a:ext>
            </a:extLst>
          </p:cNvPr>
          <p:cNvSpPr txBox="1">
            <a:spLocks/>
          </p:cNvSpPr>
          <p:nvPr/>
        </p:nvSpPr>
        <p:spPr>
          <a:xfrm>
            <a:off x="311700" y="411480"/>
            <a:ext cx="8520600" cy="416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800"/>
              </a:spcBef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does a parallel code perform?</a:t>
            </a:r>
          </a:p>
          <a:p>
            <a:pPr marL="0" indent="0" algn="ctr">
              <a:spcBef>
                <a:spcPts val="800"/>
              </a:spcBef>
              <a:buFont typeface="Arial"/>
              <a:buNone/>
            </a:pPr>
            <a:endParaRPr lang="en-US" sz="2200" dirty="0">
              <a:solidFill>
                <a:schemeClr val="dk1"/>
              </a:solidFill>
            </a:endParaRPr>
          </a:p>
          <a:p>
            <a:pPr marL="0" indent="0" algn="ctr">
              <a:spcBef>
                <a:spcPts val="800"/>
              </a:spcBef>
              <a:buFont typeface="Arial"/>
              <a:buNone/>
            </a:pPr>
            <a:r>
              <a:rPr lang="en-US" sz="2200" dirty="0">
                <a:solidFill>
                  <a:schemeClr val="dk1"/>
                </a:solidFill>
              </a:rPr>
              <a:t>Speedup = (Serial Time) / (Parallel Time)</a:t>
            </a:r>
          </a:p>
          <a:p>
            <a:pPr marL="0" indent="0">
              <a:buFont typeface="Arial"/>
              <a:buNone/>
            </a:pPr>
            <a:endParaRPr lang="en-US" sz="2200" dirty="0">
              <a:solidFill>
                <a:schemeClr val="dk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15B129D-16B8-C0B4-A7E6-D9449DF6FF2F}"/>
              </a:ext>
            </a:extLst>
          </p:cNvPr>
          <p:cNvSpPr/>
          <p:nvPr/>
        </p:nvSpPr>
        <p:spPr>
          <a:xfrm>
            <a:off x="336000" y="2712720"/>
            <a:ext cx="3710940" cy="18669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i="1" dirty="0">
                <a:solidFill>
                  <a:schemeClr val="dk1"/>
                </a:solidFill>
              </a:rPr>
              <a:t>Example:</a:t>
            </a:r>
          </a:p>
          <a:p>
            <a:pPr marL="0" lvl="0" indent="0"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en-US" dirty="0">
                <a:solidFill>
                  <a:schemeClr val="dk1"/>
                </a:solidFill>
              </a:rPr>
              <a:t>Serial time = 10 </a:t>
            </a:r>
            <a:r>
              <a:rPr lang="en-US" dirty="0" err="1">
                <a:solidFill>
                  <a:schemeClr val="dk1"/>
                </a:solidFill>
              </a:rPr>
              <a:t>hr</a:t>
            </a:r>
            <a:endParaRPr lang="en-US" dirty="0">
              <a:solidFill>
                <a:schemeClr val="dk1"/>
              </a:solidFill>
            </a:endParaRPr>
          </a:p>
          <a:p>
            <a:pPr marL="0" lvl="0" indent="0"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en-US" dirty="0">
                <a:solidFill>
                  <a:schemeClr val="dk1"/>
                </a:solidFill>
              </a:rPr>
              <a:t>Parallel time = 1 </a:t>
            </a:r>
            <a:r>
              <a:rPr lang="en-US" dirty="0" err="1">
                <a:solidFill>
                  <a:schemeClr val="dk1"/>
                </a:solidFill>
              </a:rPr>
              <a:t>hr</a:t>
            </a:r>
            <a:r>
              <a:rPr lang="en-US" dirty="0">
                <a:solidFill>
                  <a:schemeClr val="dk1"/>
                </a:solidFill>
              </a:rPr>
              <a:t> on 100 processors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en-US" dirty="0">
                <a:solidFill>
                  <a:schemeClr val="dk1"/>
                </a:solidFill>
              </a:rPr>
              <a:t>Speedup = 10x</a:t>
            </a:r>
          </a:p>
        </p:txBody>
      </p:sp>
    </p:spTree>
    <p:extLst>
      <p:ext uri="{BB962C8B-B14F-4D97-AF65-F5344CB8AC3E}">
        <p14:creationId xmlns:p14="http://schemas.microsoft.com/office/powerpoint/2010/main" val="2451778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2851A998-EA9C-0BC5-0577-556A4ED55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A496AB85-9DF4-9D41-DA55-9C4429088C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411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Parallelization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Google Shape;93;p18">
            <a:extLst>
              <a:ext uri="{FF2B5EF4-FFF2-40B4-BE49-F238E27FC236}">
                <a16:creationId xmlns:a16="http://schemas.microsoft.com/office/drawing/2014/main" id="{47C6D041-576D-8496-5E4A-E28794007489}"/>
              </a:ext>
            </a:extLst>
          </p:cNvPr>
          <p:cNvSpPr txBox="1">
            <a:spLocks/>
          </p:cNvSpPr>
          <p:nvPr/>
        </p:nvSpPr>
        <p:spPr>
          <a:xfrm>
            <a:off x="311700" y="411480"/>
            <a:ext cx="8520600" cy="416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800"/>
              </a:spcBef>
              <a:buNone/>
            </a:pP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does a parallel code perform?</a:t>
            </a:r>
          </a:p>
          <a:p>
            <a:pPr marL="0" lvl="0" indent="0" algn="ctr">
              <a:spcBef>
                <a:spcPts val="800"/>
              </a:spcBef>
              <a:buNone/>
            </a:pPr>
            <a:endParaRPr lang="en-US" sz="2200" dirty="0">
              <a:solidFill>
                <a:schemeClr val="dk1"/>
              </a:solidFill>
            </a:endParaRPr>
          </a:p>
          <a:p>
            <a:pPr marL="0" lvl="0" indent="0" algn="ctr">
              <a:spcBef>
                <a:spcPts val="800"/>
              </a:spcBef>
              <a:buNone/>
            </a:pPr>
            <a:r>
              <a:rPr lang="en-US" sz="2200" dirty="0">
                <a:solidFill>
                  <a:schemeClr val="dk1"/>
                </a:solidFill>
              </a:rPr>
              <a:t>Speedup = (Serial Time) / (Parallel Time)</a:t>
            </a:r>
          </a:p>
          <a:p>
            <a:pPr marL="0" lvl="0" indent="0" algn="ctr">
              <a:spcBef>
                <a:spcPts val="800"/>
              </a:spcBef>
              <a:buNone/>
            </a:pPr>
            <a:r>
              <a:rPr lang="en-US" sz="2200" dirty="0">
                <a:solidFill>
                  <a:schemeClr val="dk1"/>
                </a:solidFill>
              </a:rPr>
              <a:t>Efficiency = Speedup / (# processors)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endParaRPr lang="en-US" sz="2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4CBD77-D5B7-541E-078D-C20104043E3F}"/>
              </a:ext>
            </a:extLst>
          </p:cNvPr>
          <p:cNvSpPr/>
          <p:nvPr/>
        </p:nvSpPr>
        <p:spPr>
          <a:xfrm>
            <a:off x="336000" y="2712720"/>
            <a:ext cx="3710940" cy="18669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i="1" dirty="0">
                <a:solidFill>
                  <a:schemeClr val="dk1"/>
                </a:solidFill>
              </a:rPr>
              <a:t>Example:</a:t>
            </a:r>
          </a:p>
          <a:p>
            <a:pPr marL="0" lvl="0" indent="0"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en-US" dirty="0">
                <a:solidFill>
                  <a:schemeClr val="dk1"/>
                </a:solidFill>
              </a:rPr>
              <a:t>Serial time = 10 </a:t>
            </a:r>
            <a:r>
              <a:rPr lang="en-US" dirty="0" err="1">
                <a:solidFill>
                  <a:schemeClr val="dk1"/>
                </a:solidFill>
              </a:rPr>
              <a:t>hr</a:t>
            </a:r>
            <a:endParaRPr lang="en-US" dirty="0">
              <a:solidFill>
                <a:schemeClr val="dk1"/>
              </a:solidFill>
            </a:endParaRPr>
          </a:p>
          <a:p>
            <a:pPr marL="0" lvl="0" indent="0"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en-US" dirty="0">
                <a:solidFill>
                  <a:schemeClr val="dk1"/>
                </a:solidFill>
              </a:rPr>
              <a:t>Parallel time = 1 </a:t>
            </a:r>
            <a:r>
              <a:rPr lang="en-US" dirty="0" err="1">
                <a:solidFill>
                  <a:schemeClr val="dk1"/>
                </a:solidFill>
              </a:rPr>
              <a:t>hr</a:t>
            </a:r>
            <a:r>
              <a:rPr lang="en-US" dirty="0">
                <a:solidFill>
                  <a:schemeClr val="dk1"/>
                </a:solidFill>
              </a:rPr>
              <a:t> on 100 processors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en-US" dirty="0">
                <a:solidFill>
                  <a:schemeClr val="dk1"/>
                </a:solidFill>
              </a:rPr>
              <a:t>Speedup = 10x</a:t>
            </a:r>
          </a:p>
          <a:p>
            <a:pPr marL="0" lvl="0" indent="0"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en-US" dirty="0">
                <a:solidFill>
                  <a:schemeClr val="dk1"/>
                </a:solidFill>
              </a:rPr>
              <a:t>Efficiency = 10 / 100 = 0.1</a:t>
            </a:r>
          </a:p>
        </p:txBody>
      </p:sp>
    </p:spTree>
    <p:extLst>
      <p:ext uri="{BB962C8B-B14F-4D97-AF65-F5344CB8AC3E}">
        <p14:creationId xmlns:p14="http://schemas.microsoft.com/office/powerpoint/2010/main" val="3983015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0F5BC933-2069-C739-7C0C-22B960511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8661FFC1-10F2-6FEF-8A7C-BC02746A6A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411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Parallelization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Google Shape;93;p18">
            <a:extLst>
              <a:ext uri="{FF2B5EF4-FFF2-40B4-BE49-F238E27FC236}">
                <a16:creationId xmlns:a16="http://schemas.microsoft.com/office/drawing/2014/main" id="{46A00F60-457C-99AF-7D37-6071DAA0E9FD}"/>
              </a:ext>
            </a:extLst>
          </p:cNvPr>
          <p:cNvSpPr txBox="1">
            <a:spLocks/>
          </p:cNvSpPr>
          <p:nvPr/>
        </p:nvSpPr>
        <p:spPr>
          <a:xfrm>
            <a:off x="311700" y="411480"/>
            <a:ext cx="8520600" cy="4168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800"/>
              </a:spcBef>
              <a:buNone/>
            </a:pP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does a parallel code perform?</a:t>
            </a:r>
          </a:p>
          <a:p>
            <a:pPr marL="0" lvl="0" indent="0" algn="ctr">
              <a:spcBef>
                <a:spcPts val="800"/>
              </a:spcBef>
              <a:buNone/>
            </a:pPr>
            <a:endParaRPr lang="en-US" sz="2200" dirty="0">
              <a:solidFill>
                <a:schemeClr val="dk1"/>
              </a:solidFill>
            </a:endParaRPr>
          </a:p>
          <a:p>
            <a:pPr marL="0" lvl="0" indent="0" algn="ctr">
              <a:spcBef>
                <a:spcPts val="800"/>
              </a:spcBef>
              <a:buNone/>
            </a:pPr>
            <a:r>
              <a:rPr lang="en-US" sz="2200" dirty="0">
                <a:solidFill>
                  <a:schemeClr val="dk1"/>
                </a:solidFill>
              </a:rPr>
              <a:t>Speedup = (Serial Time) / (Parallel Time)</a:t>
            </a:r>
          </a:p>
          <a:p>
            <a:pPr marL="0" lvl="0" indent="0" algn="ctr">
              <a:spcBef>
                <a:spcPts val="800"/>
              </a:spcBef>
              <a:buNone/>
            </a:pPr>
            <a:r>
              <a:rPr lang="en-US" sz="2200" dirty="0">
                <a:solidFill>
                  <a:schemeClr val="dk1"/>
                </a:solidFill>
              </a:rPr>
              <a:t>Efficiency = Speedup / (# processors)</a:t>
            </a:r>
          </a:p>
          <a:p>
            <a:pPr marL="0" lvl="0" indent="0">
              <a:spcBef>
                <a:spcPts val="1200"/>
              </a:spcBef>
              <a:spcAft>
                <a:spcPts val="1200"/>
              </a:spcAft>
              <a:buNone/>
            </a:pPr>
            <a:endParaRPr lang="en-US" sz="2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819E3B-D114-D976-2A39-D0198E907034}"/>
              </a:ext>
            </a:extLst>
          </p:cNvPr>
          <p:cNvSpPr/>
          <p:nvPr/>
        </p:nvSpPr>
        <p:spPr>
          <a:xfrm>
            <a:off x="5022300" y="2712720"/>
            <a:ext cx="3710940" cy="18669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i="1" dirty="0">
                <a:solidFill>
                  <a:schemeClr val="dk1"/>
                </a:solidFill>
              </a:rPr>
              <a:t>Example:</a:t>
            </a:r>
          </a:p>
          <a:p>
            <a:pPr lvl="0">
              <a:spcBef>
                <a:spcPts val="1200"/>
              </a:spcBef>
            </a:pPr>
            <a:r>
              <a:rPr lang="en-US" dirty="0">
                <a:solidFill>
                  <a:schemeClr val="dk1"/>
                </a:solidFill>
              </a:rPr>
              <a:t>Serial time = 10 </a:t>
            </a:r>
            <a:r>
              <a:rPr lang="en-US" dirty="0" err="1">
                <a:solidFill>
                  <a:schemeClr val="dk1"/>
                </a:solidFill>
              </a:rPr>
              <a:t>hr</a:t>
            </a:r>
            <a:endParaRPr lang="en-US" dirty="0">
              <a:solidFill>
                <a:schemeClr val="dk1"/>
              </a:solidFill>
            </a:endParaRPr>
          </a:p>
          <a:p>
            <a:pPr lvl="0">
              <a:spcBef>
                <a:spcPts val="1200"/>
              </a:spcBef>
            </a:pPr>
            <a:r>
              <a:rPr lang="en-US" dirty="0">
                <a:solidFill>
                  <a:schemeClr val="dk1"/>
                </a:solidFill>
              </a:rPr>
              <a:t>Parallel time = 1 </a:t>
            </a:r>
            <a:r>
              <a:rPr lang="en-US" dirty="0" err="1">
                <a:solidFill>
                  <a:schemeClr val="dk1"/>
                </a:solidFill>
              </a:rPr>
              <a:t>hr</a:t>
            </a:r>
            <a:r>
              <a:rPr lang="en-US" dirty="0">
                <a:solidFill>
                  <a:schemeClr val="dk1"/>
                </a:solidFill>
              </a:rPr>
              <a:t> on </a:t>
            </a:r>
            <a:r>
              <a:rPr lang="en-US" b="1" dirty="0">
                <a:solidFill>
                  <a:schemeClr val="dk1"/>
                </a:solidFill>
              </a:rPr>
              <a:t>2 processors</a:t>
            </a:r>
          </a:p>
          <a:p>
            <a:pPr lvl="0">
              <a:spcBef>
                <a:spcPts val="1200"/>
              </a:spcBef>
            </a:pPr>
            <a:r>
              <a:rPr lang="en-US" dirty="0">
                <a:solidFill>
                  <a:schemeClr val="dk1"/>
                </a:solidFill>
              </a:rPr>
              <a:t>Speedup = 10x</a:t>
            </a:r>
          </a:p>
          <a:p>
            <a:pPr lvl="0">
              <a:spcBef>
                <a:spcPts val="1200"/>
              </a:spcBef>
            </a:pPr>
            <a:r>
              <a:rPr lang="en-US" b="1" dirty="0">
                <a:solidFill>
                  <a:schemeClr val="dk1"/>
                </a:solidFill>
              </a:rPr>
              <a:t>Efficiency = 10 / 2 = 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691199-9A28-0C0A-84CC-9A09B47A5A29}"/>
              </a:ext>
            </a:extLst>
          </p:cNvPr>
          <p:cNvSpPr/>
          <p:nvPr/>
        </p:nvSpPr>
        <p:spPr>
          <a:xfrm>
            <a:off x="336000" y="2712720"/>
            <a:ext cx="3710940" cy="18669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0" indent="0">
              <a:buClr>
                <a:schemeClr val="dk1"/>
              </a:buClr>
              <a:buSzPts val="1100"/>
              <a:buNone/>
            </a:pPr>
            <a:r>
              <a:rPr lang="en-US" i="1" dirty="0">
                <a:solidFill>
                  <a:schemeClr val="dk1"/>
                </a:solidFill>
              </a:rPr>
              <a:t>Example:</a:t>
            </a:r>
          </a:p>
          <a:p>
            <a:pPr marL="0" lvl="0" indent="0"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en-US" dirty="0">
                <a:solidFill>
                  <a:schemeClr val="dk1"/>
                </a:solidFill>
              </a:rPr>
              <a:t>Serial time = 10 </a:t>
            </a:r>
            <a:r>
              <a:rPr lang="en-US" dirty="0" err="1">
                <a:solidFill>
                  <a:schemeClr val="dk1"/>
                </a:solidFill>
              </a:rPr>
              <a:t>hr</a:t>
            </a:r>
            <a:endParaRPr lang="en-US" dirty="0">
              <a:solidFill>
                <a:schemeClr val="dk1"/>
              </a:solidFill>
            </a:endParaRPr>
          </a:p>
          <a:p>
            <a:pPr marL="0" lvl="0" indent="0"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en-US" dirty="0">
                <a:solidFill>
                  <a:schemeClr val="dk1"/>
                </a:solidFill>
              </a:rPr>
              <a:t>Parallel time = 1 </a:t>
            </a:r>
            <a:r>
              <a:rPr lang="en-US" dirty="0" err="1">
                <a:solidFill>
                  <a:schemeClr val="dk1"/>
                </a:solidFill>
              </a:rPr>
              <a:t>hr</a:t>
            </a:r>
            <a:r>
              <a:rPr lang="en-US" dirty="0">
                <a:solidFill>
                  <a:schemeClr val="dk1"/>
                </a:solidFill>
              </a:rPr>
              <a:t> on 100 processors</a:t>
            </a:r>
          </a:p>
          <a:p>
            <a:pPr marL="0" lvl="0" indent="0">
              <a:spcBef>
                <a:spcPts val="1200"/>
              </a:spcBef>
              <a:buNone/>
            </a:pPr>
            <a:r>
              <a:rPr lang="en-US" dirty="0">
                <a:solidFill>
                  <a:schemeClr val="dk1"/>
                </a:solidFill>
              </a:rPr>
              <a:t>Speedup = 10x</a:t>
            </a:r>
          </a:p>
          <a:p>
            <a:pPr marL="0" lvl="0" indent="0">
              <a:spcBef>
                <a:spcPts val="1200"/>
              </a:spcBef>
              <a:buClr>
                <a:schemeClr val="dk1"/>
              </a:buClr>
              <a:buSzPts val="1100"/>
              <a:buNone/>
            </a:pPr>
            <a:r>
              <a:rPr lang="en-US" dirty="0">
                <a:solidFill>
                  <a:schemeClr val="dk1"/>
                </a:solidFill>
              </a:rPr>
              <a:t>Efficiency = 10 / 100 = 0.1</a:t>
            </a:r>
          </a:p>
        </p:txBody>
      </p:sp>
    </p:spTree>
    <p:extLst>
      <p:ext uri="{BB962C8B-B14F-4D97-AF65-F5344CB8AC3E}">
        <p14:creationId xmlns:p14="http://schemas.microsoft.com/office/powerpoint/2010/main" val="12678633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790287C5-C8CB-645E-ECCA-0035AA747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1CC5A52A-FD3B-4E7B-751A-5352D87CF0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411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Parallelization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Google Shape;93;p18">
            <a:extLst>
              <a:ext uri="{FF2B5EF4-FFF2-40B4-BE49-F238E27FC236}">
                <a16:creationId xmlns:a16="http://schemas.microsoft.com/office/drawing/2014/main" id="{27C680E9-AE19-7B4A-7CCF-DA4C4596A531}"/>
              </a:ext>
            </a:extLst>
          </p:cNvPr>
          <p:cNvSpPr txBox="1">
            <a:spLocks/>
          </p:cNvSpPr>
          <p:nvPr/>
        </p:nvSpPr>
        <p:spPr>
          <a:xfrm>
            <a:off x="311700" y="411480"/>
            <a:ext cx="80844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800"/>
              </a:spcBef>
              <a:buNone/>
            </a:pP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lang="en-US" sz="2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111;p21">
            <a:extLst>
              <a:ext uri="{FF2B5EF4-FFF2-40B4-BE49-F238E27FC236}">
                <a16:creationId xmlns:a16="http://schemas.microsoft.com/office/drawing/2014/main" id="{FF4CA27E-94E6-C52E-84A1-4D3154BC267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2487" y="661262"/>
            <a:ext cx="6039026" cy="38209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0757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4A694A1C-06A2-17F2-BC98-36E814E32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68B02FAA-FA53-00F9-6A72-D49C35FD33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411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Parallelization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Google Shape;93;p18">
            <a:extLst>
              <a:ext uri="{FF2B5EF4-FFF2-40B4-BE49-F238E27FC236}">
                <a16:creationId xmlns:a16="http://schemas.microsoft.com/office/drawing/2014/main" id="{D439A22E-5F80-5D9D-93C5-717A0F007F36}"/>
              </a:ext>
            </a:extLst>
          </p:cNvPr>
          <p:cNvSpPr txBox="1">
            <a:spLocks/>
          </p:cNvSpPr>
          <p:nvPr/>
        </p:nvSpPr>
        <p:spPr>
          <a:xfrm>
            <a:off x="311700" y="411480"/>
            <a:ext cx="1745700" cy="739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800"/>
              </a:spcBef>
              <a:buNone/>
            </a:pP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lang="en-US" sz="2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Google Shape;123;p23">
            <a:extLst>
              <a:ext uri="{FF2B5EF4-FFF2-40B4-BE49-F238E27FC236}">
                <a16:creationId xmlns:a16="http://schemas.microsoft.com/office/drawing/2014/main" id="{BC7EBC66-648F-0D36-88D1-53635E0B6F2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522" y="1040585"/>
            <a:ext cx="7278955" cy="38209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191603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A90C08A6-8B89-72D2-3A53-BC3014703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82EA4F56-B5B8-8180-CA85-EAFF10F277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411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Parallelization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Google Shape;93;p18">
            <a:extLst>
              <a:ext uri="{FF2B5EF4-FFF2-40B4-BE49-F238E27FC236}">
                <a16:creationId xmlns:a16="http://schemas.microsoft.com/office/drawing/2014/main" id="{4139CBA9-A8F4-01A9-8B6E-9DE8BB88C02A}"/>
              </a:ext>
            </a:extLst>
          </p:cNvPr>
          <p:cNvSpPr txBox="1">
            <a:spLocks/>
          </p:cNvSpPr>
          <p:nvPr/>
        </p:nvSpPr>
        <p:spPr>
          <a:xfrm>
            <a:off x="311700" y="411480"/>
            <a:ext cx="1745700" cy="739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800"/>
              </a:spcBef>
              <a:buNone/>
            </a:pPr>
            <a:r>
              <a:rPr lang="en-US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lang="en-US" sz="2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Google Shape;129;p24">
            <a:extLst>
              <a:ext uri="{FF2B5EF4-FFF2-40B4-BE49-F238E27FC236}">
                <a16:creationId xmlns:a16="http://schemas.microsoft.com/office/drawing/2014/main" id="{9E991F1E-41CF-CC86-1404-312DE184BCD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9028" y="1040585"/>
            <a:ext cx="6424013" cy="382097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70262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78DB5D85-7A7B-720A-A1DC-05F1604CE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DE86C168-6D93-F9CF-E83D-9C4BE6E9DF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411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Parallelization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Google Shape;135;p25">
            <a:extLst>
              <a:ext uri="{FF2B5EF4-FFF2-40B4-BE49-F238E27FC236}">
                <a16:creationId xmlns:a16="http://schemas.microsoft.com/office/drawing/2014/main" id="{A3B33B8A-F6B5-AA70-62F2-2AF7259448C1}"/>
              </a:ext>
            </a:extLst>
          </p:cNvPr>
          <p:cNvSpPr txBox="1"/>
          <p:nvPr/>
        </p:nvSpPr>
        <p:spPr>
          <a:xfrm>
            <a:off x="739140" y="960120"/>
            <a:ext cx="7780020" cy="304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 applications require little coordination and are termed “</a:t>
            </a:r>
            <a:r>
              <a:rPr lang="en" sz="2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pleasingly parallel</a:t>
            </a:r>
            <a:r>
              <a:rPr lang="en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 (also called “</a:t>
            </a:r>
            <a:r>
              <a:rPr lang="en" sz="2200" i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embarrassingly parallel</a:t>
            </a:r>
            <a:r>
              <a:rPr lang="en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”)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lvl="0" indent="444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</a:rPr>
              <a:t>– </a:t>
            </a:r>
            <a:r>
              <a:rPr lang="en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Monte Carlo evaluations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lvl="0" indent="444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</a:rPr>
              <a:t>– </a:t>
            </a:r>
            <a:r>
              <a:rPr lang="en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Big data computations with many independent mappings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lvl="0" indent="44450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will be the focus for our demonstrations.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37596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6FAC4E3E-7FA7-B286-0CE3-B4E2B688C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7AE206E4-F2F3-2D23-4455-21438CB83C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411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Parallelization: Message Parsing Interface (MPI)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1" name="Google Shape;141;p26">
            <a:extLst>
              <a:ext uri="{FF2B5EF4-FFF2-40B4-BE49-F238E27FC236}">
                <a16:creationId xmlns:a16="http://schemas.microsoft.com/office/drawing/2014/main" id="{50562EDC-1E2D-8AB1-F07E-F17F641EDA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MPI: Message Parsing Interface</a:t>
            </a:r>
            <a:endParaRPr sz="2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Terminology</a:t>
            </a:r>
            <a:endParaRPr sz="2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Communicator: </a:t>
            </a:r>
            <a:r>
              <a:rPr lang="en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Central communicator used to coordinate across ranks</a:t>
            </a:r>
            <a:endParaRPr sz="2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Rank: </a:t>
            </a:r>
            <a:r>
              <a:rPr lang="en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Unique ID for each process (0 to n-1)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Size: </a:t>
            </a:r>
            <a:r>
              <a:rPr lang="en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number of processes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837421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00C0E884-7B8E-67D9-4BFE-2B6D13921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98F96A04-A4D5-0FE1-32F1-6CA44871A6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411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Parallelization: Message Parsing Interface (MPI)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7" name="Google Shape;147;p27"/>
          <p:cNvSpPr/>
          <p:nvPr/>
        </p:nvSpPr>
        <p:spPr>
          <a:xfrm>
            <a:off x="3231750" y="664590"/>
            <a:ext cx="2451900" cy="8625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MPI Communicator</a:t>
            </a:r>
            <a:endParaRPr/>
          </a:p>
        </p:txBody>
      </p:sp>
      <p:sp>
        <p:nvSpPr>
          <p:cNvPr id="148" name="Google Shape;148;p27"/>
          <p:cNvSpPr/>
          <p:nvPr/>
        </p:nvSpPr>
        <p:spPr>
          <a:xfrm>
            <a:off x="1130425" y="2338015"/>
            <a:ext cx="1641000" cy="2094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my_script.py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rank =0</a:t>
            </a:r>
            <a:endParaRPr/>
          </a:p>
        </p:txBody>
      </p:sp>
      <p:sp>
        <p:nvSpPr>
          <p:cNvPr id="149" name="Google Shape;149;p27"/>
          <p:cNvSpPr/>
          <p:nvPr/>
        </p:nvSpPr>
        <p:spPr>
          <a:xfrm>
            <a:off x="3533500" y="2338015"/>
            <a:ext cx="1641000" cy="2094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my_script.py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rank =3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27"/>
          <p:cNvSpPr/>
          <p:nvPr/>
        </p:nvSpPr>
        <p:spPr>
          <a:xfrm>
            <a:off x="6338725" y="2338015"/>
            <a:ext cx="1641000" cy="2094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my_script.py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rank =2</a:t>
            </a:r>
            <a:endParaRPr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51" name="Google Shape;151;p27"/>
          <p:cNvCxnSpPr>
            <a:stCxn id="147" idx="4"/>
            <a:endCxn id="148" idx="0"/>
          </p:cNvCxnSpPr>
          <p:nvPr/>
        </p:nvCxnSpPr>
        <p:spPr>
          <a:xfrm flipH="1">
            <a:off x="1950900" y="1527090"/>
            <a:ext cx="2506800" cy="810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2" name="Google Shape;152;p27"/>
          <p:cNvCxnSpPr>
            <a:stCxn id="147" idx="4"/>
            <a:endCxn id="149" idx="0"/>
          </p:cNvCxnSpPr>
          <p:nvPr/>
        </p:nvCxnSpPr>
        <p:spPr>
          <a:xfrm flipH="1">
            <a:off x="4353900" y="1527090"/>
            <a:ext cx="103800" cy="810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3" name="Google Shape;153;p27"/>
          <p:cNvCxnSpPr>
            <a:stCxn id="147" idx="4"/>
            <a:endCxn id="150" idx="0"/>
          </p:cNvCxnSpPr>
          <p:nvPr/>
        </p:nvCxnSpPr>
        <p:spPr>
          <a:xfrm>
            <a:off x="4457700" y="1527090"/>
            <a:ext cx="2701500" cy="810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4" name="Google Shape;154;p27"/>
          <p:cNvSpPr txBox="1"/>
          <p:nvPr/>
        </p:nvSpPr>
        <p:spPr>
          <a:xfrm rot="-1215465">
            <a:off x="2168243" y="1650535"/>
            <a:ext cx="1187024" cy="246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Rank = 0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5" name="Google Shape;155;p27"/>
          <p:cNvSpPr txBox="1"/>
          <p:nvPr/>
        </p:nvSpPr>
        <p:spPr>
          <a:xfrm rot="869">
            <a:off x="3708459" y="1883041"/>
            <a:ext cx="11871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Rank = 1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6" name="Google Shape;156;p27"/>
          <p:cNvSpPr txBox="1"/>
          <p:nvPr/>
        </p:nvSpPr>
        <p:spPr>
          <a:xfrm rot="1133295">
            <a:off x="5462918" y="1650512"/>
            <a:ext cx="1187125" cy="246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Rank = 2</a:t>
            </a:r>
            <a:endParaRPr sz="180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3728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B4D8E016-C33B-0466-9010-C9A6EDB72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051D4A26-46E9-9A83-F0F5-1326F28E84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411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Parallelization: Message Parsing Interface (MPI)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3" name="Google Shape;162;p28">
            <a:extLst>
              <a:ext uri="{FF2B5EF4-FFF2-40B4-BE49-F238E27FC236}">
                <a16:creationId xmlns:a16="http://schemas.microsoft.com/office/drawing/2014/main" id="{B60934E6-8246-6913-AF24-4B3BA96900E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87500"/>
            <a:ext cx="4381564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63;p28">
            <a:extLst>
              <a:ext uri="{FF2B5EF4-FFF2-40B4-BE49-F238E27FC236}">
                <a16:creationId xmlns:a16="http://schemas.microsoft.com/office/drawing/2014/main" id="{C699AC88-F196-7801-01FD-0083392BDDA6}"/>
              </a:ext>
            </a:extLst>
          </p:cNvPr>
          <p:cNvSpPr/>
          <p:nvPr/>
        </p:nvSpPr>
        <p:spPr>
          <a:xfrm>
            <a:off x="4296950" y="1774650"/>
            <a:ext cx="3470100" cy="62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function processes a single sample/realization individually.</a:t>
            </a:r>
            <a:endParaRPr/>
          </a:p>
        </p:txBody>
      </p:sp>
      <p:sp>
        <p:nvSpPr>
          <p:cNvPr id="7" name="Google Shape;164;p28">
            <a:extLst>
              <a:ext uri="{FF2B5EF4-FFF2-40B4-BE49-F238E27FC236}">
                <a16:creationId xmlns:a16="http://schemas.microsoft.com/office/drawing/2014/main" id="{AE4D3028-5CAE-342F-D1F5-3CC8A524A459}"/>
              </a:ext>
            </a:extLst>
          </p:cNvPr>
          <p:cNvSpPr/>
          <p:nvPr/>
        </p:nvSpPr>
        <p:spPr>
          <a:xfrm>
            <a:off x="2597450" y="1774650"/>
            <a:ext cx="1699500" cy="5190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165;p28">
            <a:extLst>
              <a:ext uri="{FF2B5EF4-FFF2-40B4-BE49-F238E27FC236}">
                <a16:creationId xmlns:a16="http://schemas.microsoft.com/office/drawing/2014/main" id="{E38E4AA4-1E77-14BE-7A8E-02FAD97EC412}"/>
              </a:ext>
            </a:extLst>
          </p:cNvPr>
          <p:cNvSpPr/>
          <p:nvPr/>
        </p:nvSpPr>
        <p:spPr>
          <a:xfrm>
            <a:off x="4296950" y="1031975"/>
            <a:ext cx="3470100" cy="6228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the rank ID number and other MPI communication features</a:t>
            </a:r>
            <a:endParaRPr/>
          </a:p>
        </p:txBody>
      </p:sp>
      <p:sp>
        <p:nvSpPr>
          <p:cNvPr id="11" name="Google Shape;166;p28">
            <a:extLst>
              <a:ext uri="{FF2B5EF4-FFF2-40B4-BE49-F238E27FC236}">
                <a16:creationId xmlns:a16="http://schemas.microsoft.com/office/drawing/2014/main" id="{1DA03D8E-8AE7-910C-020F-35BE580E5BEB}"/>
              </a:ext>
            </a:extLst>
          </p:cNvPr>
          <p:cNvSpPr/>
          <p:nvPr/>
        </p:nvSpPr>
        <p:spPr>
          <a:xfrm>
            <a:off x="2597450" y="1139025"/>
            <a:ext cx="1699500" cy="4119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4769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0AC9522D-8600-3F65-126D-7C627A637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F43E2342-94AF-F0F9-46AC-4A66A450C2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411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Parallelization: Message Parsing Interface (MPI)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3" name="Google Shape;162;p28">
            <a:extLst>
              <a:ext uri="{FF2B5EF4-FFF2-40B4-BE49-F238E27FC236}">
                <a16:creationId xmlns:a16="http://schemas.microsoft.com/office/drawing/2014/main" id="{22A2084B-618B-76BE-4FBF-3B34BB6C115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87500"/>
            <a:ext cx="4381564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73;p29">
            <a:extLst>
              <a:ext uri="{FF2B5EF4-FFF2-40B4-BE49-F238E27FC236}">
                <a16:creationId xmlns:a16="http://schemas.microsoft.com/office/drawing/2014/main" id="{F29F6C18-7F12-17C5-6F84-166E419BC710}"/>
              </a:ext>
            </a:extLst>
          </p:cNvPr>
          <p:cNvSpPr/>
          <p:nvPr/>
        </p:nvSpPr>
        <p:spPr>
          <a:xfrm>
            <a:off x="5532175" y="1586500"/>
            <a:ext cx="3470100" cy="3087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function is the most important, and will run on each </a:t>
            </a:r>
            <a:r>
              <a:rPr lang="en" i="1"/>
              <a:t>rank</a:t>
            </a:r>
            <a:r>
              <a:rPr lang="en"/>
              <a:t> individually.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rank_samples will be unique based on the rank ID number.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Runs the process() function for rank-specific samples. </a:t>
            </a:r>
            <a:endParaRPr/>
          </a:p>
        </p:txBody>
      </p:sp>
      <p:sp>
        <p:nvSpPr>
          <p:cNvPr id="12" name="Google Shape;174;p29">
            <a:extLst>
              <a:ext uri="{FF2B5EF4-FFF2-40B4-BE49-F238E27FC236}">
                <a16:creationId xmlns:a16="http://schemas.microsoft.com/office/drawing/2014/main" id="{6BED04E8-0540-7D32-8BEB-4C5A840CCAC5}"/>
              </a:ext>
            </a:extLst>
          </p:cNvPr>
          <p:cNvSpPr/>
          <p:nvPr/>
        </p:nvSpPr>
        <p:spPr>
          <a:xfrm>
            <a:off x="4738683" y="2571750"/>
            <a:ext cx="648900" cy="1641000"/>
          </a:xfrm>
          <a:prstGeom prst="righ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78928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8065226C-5778-333C-C70C-186585C1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1C927FF6-F6A8-B74E-C05E-84A1527FC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411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Parallelization: Message Parsing Interface (MPI)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4" name="Google Shape;180;p30">
            <a:extLst>
              <a:ext uri="{FF2B5EF4-FFF2-40B4-BE49-F238E27FC236}">
                <a16:creationId xmlns:a16="http://schemas.microsoft.com/office/drawing/2014/main" id="{3282C59C-143D-FD01-43D6-6738FE33D72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rcRect b="1062"/>
          <a:stretch>
            <a:fillRect/>
          </a:stretch>
        </p:blipFill>
        <p:spPr>
          <a:xfrm>
            <a:off x="705570" y="972689"/>
            <a:ext cx="7732860" cy="30887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801761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1004BDEF-3A44-8FCC-DD7D-5BFD540DF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BBB4E841-988A-6705-EEBF-3768BE4DA2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411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Parallelization: Message Parsing Interface (MPI)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C8913EC-3CFC-92AA-E115-148565B70505}"/>
              </a:ext>
            </a:extLst>
          </p:cNvPr>
          <p:cNvGrpSpPr/>
          <p:nvPr/>
        </p:nvGrpSpPr>
        <p:grpSpPr>
          <a:xfrm>
            <a:off x="3771900" y="1059180"/>
            <a:ext cx="4804462" cy="3294746"/>
            <a:chOff x="1549550" y="1066350"/>
            <a:chExt cx="5540912" cy="3820976"/>
          </a:xfrm>
        </p:grpSpPr>
        <p:pic>
          <p:nvPicPr>
            <p:cNvPr id="3" name="Google Shape;186;p31">
              <a:extLst>
                <a:ext uri="{FF2B5EF4-FFF2-40B4-BE49-F238E27FC236}">
                  <a16:creationId xmlns:a16="http://schemas.microsoft.com/office/drawing/2014/main" id="{E576D1DB-F51C-4B63-2572-6FCF216D02ED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18250" y="1066350"/>
              <a:ext cx="5472212" cy="38209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" name="Google Shape;187;p31">
              <a:extLst>
                <a:ext uri="{FF2B5EF4-FFF2-40B4-BE49-F238E27FC236}">
                  <a16:creationId xmlns:a16="http://schemas.microsoft.com/office/drawing/2014/main" id="{C51779D1-DB3A-C245-06FC-A6767D9D3519}"/>
                </a:ext>
              </a:extLst>
            </p:cNvPr>
            <p:cNvSpPr/>
            <p:nvPr/>
          </p:nvSpPr>
          <p:spPr>
            <a:xfrm>
              <a:off x="1549550" y="2228650"/>
              <a:ext cx="2886300" cy="447600"/>
            </a:xfrm>
            <a:prstGeom prst="rect">
              <a:avLst/>
            </a:prstGeom>
            <a:noFill/>
            <a:ln w="9525" cap="flat" cmpd="sng">
              <a:solidFill>
                <a:srgbClr val="9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88;p31">
              <a:extLst>
                <a:ext uri="{FF2B5EF4-FFF2-40B4-BE49-F238E27FC236}">
                  <a16:creationId xmlns:a16="http://schemas.microsoft.com/office/drawing/2014/main" id="{CAFBFEB9-E281-6577-9DC1-2DFF299DF7C9}"/>
                </a:ext>
              </a:extLst>
            </p:cNvPr>
            <p:cNvSpPr/>
            <p:nvPr/>
          </p:nvSpPr>
          <p:spPr>
            <a:xfrm>
              <a:off x="1549550" y="3723700"/>
              <a:ext cx="4002000" cy="541500"/>
            </a:xfrm>
            <a:prstGeom prst="rect">
              <a:avLst/>
            </a:prstGeom>
            <a:noFill/>
            <a:ln w="9525" cap="flat" cmpd="sng">
              <a:solidFill>
                <a:srgbClr val="9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89;p31">
              <a:extLst>
                <a:ext uri="{FF2B5EF4-FFF2-40B4-BE49-F238E27FC236}">
                  <a16:creationId xmlns:a16="http://schemas.microsoft.com/office/drawing/2014/main" id="{EA837935-FF49-BC35-C5CF-CD89FCF4A9E0}"/>
                </a:ext>
              </a:extLst>
            </p:cNvPr>
            <p:cNvSpPr/>
            <p:nvPr/>
          </p:nvSpPr>
          <p:spPr>
            <a:xfrm>
              <a:off x="1549550" y="4369075"/>
              <a:ext cx="1394400" cy="447600"/>
            </a:xfrm>
            <a:prstGeom prst="rect">
              <a:avLst/>
            </a:prstGeom>
            <a:noFill/>
            <a:ln w="9525" cap="flat" cmpd="sng">
              <a:solidFill>
                <a:srgbClr val="98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90;p31">
              <a:extLst>
                <a:ext uri="{FF2B5EF4-FFF2-40B4-BE49-F238E27FC236}">
                  <a16:creationId xmlns:a16="http://schemas.microsoft.com/office/drawing/2014/main" id="{9D24A4D0-4B2C-DC96-F77E-E479D1034FE3}"/>
                </a:ext>
              </a:extLst>
            </p:cNvPr>
            <p:cNvSpPr txBox="1"/>
            <p:nvPr/>
          </p:nvSpPr>
          <p:spPr>
            <a:xfrm>
              <a:off x="5149350" y="1845950"/>
              <a:ext cx="1628100" cy="113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rgbClr val="980000"/>
                  </a:solidFill>
                </a:rPr>
                <a:t>Red = things that changed relative to the serial version</a:t>
              </a:r>
              <a:endParaRPr dirty="0">
                <a:solidFill>
                  <a:srgbClr val="98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27274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45444CE7-9D30-7E8D-4DB4-5D5D116D7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851CA72E-AC91-900A-BE05-F045F061CD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411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Summary of </a:t>
            </a:r>
            <a:r>
              <a:rPr lang="en" i="1" dirty="0">
                <a:solidFill>
                  <a:schemeClr val="bg1">
                    <a:lumMod val="95000"/>
                  </a:schemeClr>
                </a:solidFill>
              </a:rPr>
              <a:t>tips for parallelization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96" name="Google Shape;196;p32"/>
          <p:cNvSpPr txBox="1">
            <a:spLocks noGrp="1"/>
          </p:cNvSpPr>
          <p:nvPr>
            <p:ph type="body" idx="1"/>
          </p:nvPr>
        </p:nvSpPr>
        <p:spPr>
          <a:xfrm>
            <a:off x="311700" y="77909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 ahead for parallelization by modularizing your code early.</a:t>
            </a: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endParaRPr lang="en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Minimize the amount of serial work necessary.</a:t>
            </a: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endParaRPr lang="en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 bottlenecks/slow-points in your code and prioritize improvements of those elements.</a:t>
            </a: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endParaRPr lang="en"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the time limit </a:t>
            </a:r>
            <a:r>
              <a:rPr lang="en" sz="2200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#SBATCH –time</a:t>
            </a:r>
            <a:r>
              <a:rPr lang="en" sz="22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prevent your job from running endlessly </a:t>
            </a:r>
            <a:endParaRPr sz="2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683573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81601573-B8D4-DB61-8F11-B7C18DA87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4F99F8DC-572B-23FB-CDA8-2060E9C680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411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Things to </a:t>
            </a:r>
            <a:r>
              <a:rPr lang="en" i="1" dirty="0">
                <a:solidFill>
                  <a:schemeClr val="bg1">
                    <a:lumMod val="95000"/>
                  </a:schemeClr>
                </a:solidFill>
              </a:rPr>
              <a:t>avoid </a:t>
            </a: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when running on HPC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Google Shape;202;p33">
            <a:extLst>
              <a:ext uri="{FF2B5EF4-FFF2-40B4-BE49-F238E27FC236}">
                <a16:creationId xmlns:a16="http://schemas.microsoft.com/office/drawing/2014/main" id="{3232E5BE-9ADA-5B9D-B19B-7630DAADF1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1507" y="755910"/>
            <a:ext cx="8730794" cy="21672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lvl="0" indent="0" algn="l" rtl="0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b="1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0. Don’t run computation on the head/root node!</a:t>
            </a:r>
          </a:p>
          <a:p>
            <a:pPr marL="88900" lvl="0" indent="0" algn="l" rtl="0"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lang="en-US" dirty="0">
              <a:solidFill>
                <a:schemeClr val="tx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88900" lvl="0" indent="0">
              <a:buSzPts val="2200"/>
              <a:buNone/>
            </a:pPr>
            <a:r>
              <a:rPr lang="en-US" sz="1600" dirty="0">
                <a:solidFill>
                  <a:schemeClr val="tx1"/>
                </a:solidFill>
                <a:latin typeface="+mn-lt"/>
              </a:rPr>
              <a:t>The head node is shared by everyone on the cluster. </a:t>
            </a:r>
          </a:p>
          <a:p>
            <a:pPr marL="88900" lvl="0" indent="0">
              <a:buSzPts val="2200"/>
              <a:buNone/>
            </a:pPr>
            <a:endParaRPr lang="en-US" sz="1600" dirty="0">
              <a:solidFill>
                <a:schemeClr val="tx1"/>
              </a:solidFill>
              <a:latin typeface="+mn-lt"/>
            </a:endParaRPr>
          </a:p>
          <a:p>
            <a:pPr marL="88900" lvl="0" indent="0">
              <a:buSzPts val="2200"/>
              <a:buNone/>
            </a:pPr>
            <a:r>
              <a:rPr lang="en-US" sz="1600" dirty="0">
                <a:solidFill>
                  <a:schemeClr val="tx1"/>
                </a:solidFill>
                <a:latin typeface="+mn-lt"/>
              </a:rPr>
              <a:t>Editing files, moving data, and submitting jobs there is fine. </a:t>
            </a:r>
          </a:p>
          <a:p>
            <a:pPr marL="88900" lvl="0" indent="0">
              <a:buSzPts val="2200"/>
              <a:buNone/>
            </a:pPr>
            <a:endParaRPr lang="en-US" sz="1600" dirty="0">
              <a:solidFill>
                <a:schemeClr val="tx1"/>
              </a:solidFill>
              <a:latin typeface="+mn-lt"/>
            </a:endParaRPr>
          </a:p>
          <a:p>
            <a:pPr marL="88900" lvl="0" indent="0">
              <a:buSzPts val="2200"/>
              <a:buNone/>
            </a:pPr>
            <a:r>
              <a:rPr lang="en-US" sz="1600" dirty="0">
                <a:solidFill>
                  <a:schemeClr val="tx1"/>
                </a:solidFill>
                <a:latin typeface="+mn-lt"/>
              </a:rPr>
              <a:t>Anything that actually does compute belongs in a bash script and should be submitted using SLURM.</a:t>
            </a:r>
          </a:p>
          <a:p>
            <a:pPr marL="88900" lvl="0" indent="0">
              <a:buSzPts val="2200"/>
              <a:buNone/>
            </a:pPr>
            <a:endParaRPr lang="en-US" sz="1600" dirty="0">
              <a:solidFill>
                <a:schemeClr val="tx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88900" lvl="0" indent="0">
              <a:buSzPts val="2200"/>
              <a:buNone/>
            </a:pPr>
            <a:r>
              <a:rPr lang="en-US" sz="1600" dirty="0">
                <a:solidFill>
                  <a:schemeClr val="tx1"/>
                </a:solidFill>
                <a:latin typeface="+mn-lt"/>
                <a:ea typeface="Calibri"/>
                <a:cs typeface="Calibri"/>
                <a:sym typeface="Calibri"/>
              </a:rPr>
              <a:t>If you cause a crash/error on the head node then it could compromise everyone’s work. </a:t>
            </a:r>
          </a:p>
          <a:p>
            <a:pPr marL="88900" lvl="0" indent="0">
              <a:buSzPts val="2200"/>
              <a:buNone/>
            </a:pPr>
            <a:endParaRPr lang="en-US" sz="1600" dirty="0">
              <a:solidFill>
                <a:schemeClr val="tx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88900" indent="0">
              <a:buSzPts val="2200"/>
              <a:buNone/>
            </a:pPr>
            <a:r>
              <a:rPr lang="en-US" sz="1600" dirty="0">
                <a:latin typeface="+mn-lt"/>
              </a:rPr>
              <a:t>	CAC states the consequence plainly: </a:t>
            </a:r>
            <a:r>
              <a:rPr lang="en-US" sz="1600" i="1" dirty="0">
                <a:latin typeface="+mn-lt"/>
              </a:rPr>
              <a:t>“Users should not run codes on the head node. 	Users who do so will be notified and have privileges revoked.”</a:t>
            </a:r>
            <a:endParaRPr lang="en-US" sz="1600" dirty="0">
              <a:latin typeface="+mn-lt"/>
            </a:endParaRPr>
          </a:p>
          <a:p>
            <a:pPr marL="88900" lvl="0" indent="0">
              <a:buSzPts val="2200"/>
              <a:buNone/>
            </a:pPr>
            <a:endParaRPr lang="en-US" sz="1600" dirty="0">
              <a:solidFill>
                <a:schemeClr val="tx1"/>
              </a:solidFill>
              <a:latin typeface="+mn-lt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lang="en-US" dirty="0">
              <a:solidFill>
                <a:schemeClr val="dk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DF3F33A-8779-8F2D-F8EF-56D60146A7F3}"/>
              </a:ext>
            </a:extLst>
          </p:cNvPr>
          <p:cNvCxnSpPr/>
          <p:nvPr/>
        </p:nvCxnSpPr>
        <p:spPr>
          <a:xfrm>
            <a:off x="936000" y="4024800"/>
            <a:ext cx="0" cy="54000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1012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18ED131A-1ADD-A2EB-95EF-F85F9DF4A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CE3A7B1-67E6-24E9-288D-91B3369FEB11}"/>
              </a:ext>
            </a:extLst>
          </p:cNvPr>
          <p:cNvSpPr/>
          <p:nvPr/>
        </p:nvSpPr>
        <p:spPr>
          <a:xfrm>
            <a:off x="6422400" y="3143319"/>
            <a:ext cx="2188800" cy="1893681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my_job.sh (separate file)</a:t>
            </a: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893C4E82-FCA1-7567-E985-2FEB2661EC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411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Things to </a:t>
            </a:r>
            <a:r>
              <a:rPr lang="en" i="1" dirty="0">
                <a:solidFill>
                  <a:schemeClr val="bg1">
                    <a:lumMod val="95000"/>
                  </a:schemeClr>
                </a:solidFill>
              </a:rPr>
              <a:t>avoid </a:t>
            </a: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when running on HPC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Google Shape;202;p33">
            <a:extLst>
              <a:ext uri="{FF2B5EF4-FFF2-40B4-BE49-F238E27FC236}">
                <a16:creationId xmlns:a16="http://schemas.microsoft.com/office/drawing/2014/main" id="{730073F4-0B94-32C5-5411-F76C009214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1507" y="755910"/>
            <a:ext cx="8730794" cy="48249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8900" lvl="0" indent="0" algn="l" rtl="0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US" b="1" dirty="0">
                <a:solidFill>
                  <a:schemeClr val="dk1"/>
                </a:solidFill>
                <a:latin typeface="+mn-lt"/>
                <a:ea typeface="Calibri"/>
                <a:cs typeface="Calibri"/>
                <a:sym typeface="Calibri"/>
              </a:rPr>
              <a:t>0. Don’t run computation on the head/root node!</a:t>
            </a:r>
          </a:p>
          <a:p>
            <a:pPr marL="88900" lvl="0" indent="0" algn="l" rtl="0"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lang="en-US" dirty="0">
              <a:solidFill>
                <a:schemeClr val="tx1"/>
              </a:solidFill>
              <a:latin typeface="+mn-lt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CA7AEC-B784-0D2B-FB66-FD94832FE4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800" y="3474294"/>
            <a:ext cx="2010500" cy="14936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890A69-D139-BFC6-7431-695FE53B0B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727" y="1876946"/>
            <a:ext cx="3256473" cy="7883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B977F5-00E4-83F0-2B48-3745709F71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2361" y="1876946"/>
            <a:ext cx="3678477" cy="48249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10961B6-F804-DED2-66C0-46E5B641B563}"/>
              </a:ext>
            </a:extLst>
          </p:cNvPr>
          <p:cNvSpPr txBox="1"/>
          <p:nvPr/>
        </p:nvSpPr>
        <p:spPr>
          <a:xfrm>
            <a:off x="864000" y="1461600"/>
            <a:ext cx="265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The wrong way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DD3086-3B2C-6C4A-C1DE-37B9CA64D7B5}"/>
              </a:ext>
            </a:extLst>
          </p:cNvPr>
          <p:cNvSpPr txBox="1"/>
          <p:nvPr/>
        </p:nvSpPr>
        <p:spPr>
          <a:xfrm>
            <a:off x="5623200" y="1461600"/>
            <a:ext cx="265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The right way</a:t>
            </a:r>
          </a:p>
        </p:txBody>
      </p:sp>
      <p:pic>
        <p:nvPicPr>
          <p:cNvPr id="15" name="Graphic 14" descr="Close with solid fill">
            <a:extLst>
              <a:ext uri="{FF2B5EF4-FFF2-40B4-BE49-F238E27FC236}">
                <a16:creationId xmlns:a16="http://schemas.microsoft.com/office/drawing/2014/main" id="{D497991C-4EFB-0BE3-0477-DA2A501F62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9913" y="2785012"/>
            <a:ext cx="479496" cy="47949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81B24BC-E0F8-BD1C-0004-D5465C0DBEBA}"/>
              </a:ext>
            </a:extLst>
          </p:cNvPr>
          <p:cNvSpPr txBox="1"/>
          <p:nvPr/>
        </p:nvSpPr>
        <p:spPr>
          <a:xfrm>
            <a:off x="1114476" y="2870871"/>
            <a:ext cx="265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Doesn’t use SLURM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11A5AF-C50B-6921-A72D-14CB05C8436F}"/>
              </a:ext>
            </a:extLst>
          </p:cNvPr>
          <p:cNvSpPr txBox="1"/>
          <p:nvPr/>
        </p:nvSpPr>
        <p:spPr>
          <a:xfrm>
            <a:off x="6144820" y="2536522"/>
            <a:ext cx="218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Uses SLURM</a:t>
            </a:r>
          </a:p>
        </p:txBody>
      </p:sp>
      <p:pic>
        <p:nvPicPr>
          <p:cNvPr id="20" name="Graphic 19" descr="Checkmark with solid fill">
            <a:extLst>
              <a:ext uri="{FF2B5EF4-FFF2-40B4-BE49-F238E27FC236}">
                <a16:creationId xmlns:a16="http://schemas.microsoft.com/office/drawing/2014/main" id="{0DE95821-C520-B2BE-B317-56516DA9E6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20896" y="2461811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6459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1586B8E3-87CD-F676-5A20-ED5B5BA31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6B57C8AE-22A3-CB99-4D85-B789DD1E92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411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Things to </a:t>
            </a:r>
            <a:r>
              <a:rPr lang="en" i="1" dirty="0">
                <a:solidFill>
                  <a:schemeClr val="bg1">
                    <a:lumMod val="95000"/>
                  </a:schemeClr>
                </a:solidFill>
              </a:rPr>
              <a:t>avoid </a:t>
            </a: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when running on HPC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03FF1A-05BB-1413-60EB-74AFA695EAAB}"/>
              </a:ext>
            </a:extLst>
          </p:cNvPr>
          <p:cNvSpPr/>
          <p:nvPr/>
        </p:nvSpPr>
        <p:spPr>
          <a:xfrm>
            <a:off x="2356088" y="3329940"/>
            <a:ext cx="876300" cy="251460"/>
          </a:xfrm>
          <a:prstGeom prst="rect">
            <a:avLst/>
          </a:prstGeom>
          <a:ln w="19050">
            <a:solidFill>
              <a:schemeClr val="accent5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Fast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00B90E-A816-529A-C411-A9DE06EA3DA8}"/>
              </a:ext>
            </a:extLst>
          </p:cNvPr>
          <p:cNvSpPr/>
          <p:nvPr/>
        </p:nvSpPr>
        <p:spPr>
          <a:xfrm>
            <a:off x="2356088" y="3737300"/>
            <a:ext cx="876300" cy="251460"/>
          </a:xfrm>
          <a:prstGeom prst="rect">
            <a:avLst/>
          </a:prstGeom>
          <a:ln w="19050">
            <a:solidFill>
              <a:schemeClr val="accent5"/>
            </a:solidFill>
          </a:ln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Slow</a:t>
            </a:r>
          </a:p>
        </p:txBody>
      </p:sp>
      <p:sp>
        <p:nvSpPr>
          <p:cNvPr id="6" name="Google Shape;202;p33">
            <a:extLst>
              <a:ext uri="{FF2B5EF4-FFF2-40B4-BE49-F238E27FC236}">
                <a16:creationId xmlns:a16="http://schemas.microsoft.com/office/drawing/2014/main" id="{215F851C-5BEF-822F-C45A-9E84A3C44D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114493" y="755910"/>
            <a:ext cx="3880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running on a large number of nodes, avoid combining fast parallel code with slow serial code in a single job. </a:t>
            </a: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endParaRPr lang="en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endParaRPr lang="en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AD1BD07-742D-0780-7B75-275615F43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533" y="967050"/>
            <a:ext cx="4529495" cy="3365100"/>
          </a:xfrm>
          <a:prstGeom prst="rect">
            <a:avLst/>
          </a:prstGeom>
        </p:spPr>
      </p:pic>
      <p:sp>
        <p:nvSpPr>
          <p:cNvPr id="4" name="Google Shape;204;p33">
            <a:extLst>
              <a:ext uri="{FF2B5EF4-FFF2-40B4-BE49-F238E27FC236}">
                <a16:creationId xmlns:a16="http://schemas.microsoft.com/office/drawing/2014/main" id="{5B866D06-5B46-116F-3E96-7DD8828E59F9}"/>
              </a:ext>
            </a:extLst>
          </p:cNvPr>
          <p:cNvSpPr/>
          <p:nvPr/>
        </p:nvSpPr>
        <p:spPr>
          <a:xfrm>
            <a:off x="4108688" y="3275875"/>
            <a:ext cx="4063312" cy="765300"/>
          </a:xfrm>
          <a:prstGeom prst="rect">
            <a:avLst/>
          </a:prstGeom>
          <a:noFill/>
          <a:ln w="2857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FE1267C-3ECE-1717-9341-0EBA8AE1D67C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3232388" y="3455670"/>
            <a:ext cx="1186145" cy="0"/>
          </a:xfrm>
          <a:prstGeom prst="straightConnector1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86AC896-EE85-E523-BB13-DD84508BB4D8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232388" y="3863030"/>
            <a:ext cx="1186145" cy="0"/>
          </a:xfrm>
          <a:prstGeom prst="straightConnector1">
            <a:avLst/>
          </a:prstGeom>
          <a:ln w="1905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71148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44A69EAD-7E79-E9BB-CB1A-7E2E6C6BD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0F860CFF-8B09-71EA-EB2B-1680D9B5B9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411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Things to </a:t>
            </a:r>
            <a:r>
              <a:rPr lang="en" i="1" dirty="0">
                <a:solidFill>
                  <a:schemeClr val="bg1">
                    <a:lumMod val="95000"/>
                  </a:schemeClr>
                </a:solidFill>
              </a:rPr>
              <a:t>avoid </a:t>
            </a: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when running on HPC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C3B33F-1F54-E9CD-ABB7-848D6F68F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533" y="967050"/>
            <a:ext cx="4529495" cy="3365100"/>
          </a:xfrm>
          <a:prstGeom prst="rect">
            <a:avLst/>
          </a:prstGeom>
        </p:spPr>
      </p:pic>
      <p:sp>
        <p:nvSpPr>
          <p:cNvPr id="13" name="Google Shape;202;p33">
            <a:extLst>
              <a:ext uri="{FF2B5EF4-FFF2-40B4-BE49-F238E27FC236}">
                <a16:creationId xmlns:a16="http://schemas.microsoft.com/office/drawing/2014/main" id="{586A57A0-371E-AA57-3DEE-3CD9A3BE58EB}"/>
              </a:ext>
            </a:extLst>
          </p:cNvPr>
          <p:cNvSpPr txBox="1">
            <a:spLocks/>
          </p:cNvSpPr>
          <p:nvPr/>
        </p:nvSpPr>
        <p:spPr>
          <a:xfrm>
            <a:off x="-114493" y="755910"/>
            <a:ext cx="3880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368300">
              <a:buSzPts val="2200"/>
              <a:buFont typeface="Arial"/>
              <a:buAutoNum type="arabicPeriod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running on a large number of nodes, avoid combining fast parallel code with slow serial code in a single job. </a:t>
            </a:r>
          </a:p>
          <a:p>
            <a:pPr indent="-368300">
              <a:buSzPts val="2200"/>
              <a:buFont typeface="Arial"/>
              <a:buAutoNum type="arabicPeriod"/>
            </a:pP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>
              <a:buSzPts val="2200"/>
              <a:buFont typeface="Arial"/>
              <a:buAutoNum type="arabicPeriod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 the </a:t>
            </a:r>
            <a:r>
              <a:rPr lang="en-US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#SBATCH </a:t>
            </a:r>
            <a:r>
              <a:rPr lang="en-US" i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--exclusive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flag if not necessary</a:t>
            </a:r>
          </a:p>
          <a:p>
            <a:pPr indent="-368300">
              <a:buSzPts val="2200"/>
              <a:buFont typeface="Arial"/>
              <a:buAutoNum type="arabicPeriod"/>
            </a:pP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>
              <a:buSzPts val="2200"/>
              <a:buFont typeface="Arial"/>
              <a:buAutoNum type="arabicPeriod"/>
            </a:pP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>
              <a:buSzPts val="2200"/>
              <a:buFont typeface="Arial"/>
              <a:buAutoNum type="arabicPeriod"/>
            </a:pP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indent="0">
              <a:spcBef>
                <a:spcPts val="1200"/>
              </a:spcBef>
              <a:spcAft>
                <a:spcPts val="1200"/>
              </a:spcAft>
              <a:buFont typeface="Arial"/>
              <a:buNone/>
            </a:pP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38743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1745C403-A388-34DA-6DEC-32EDD71F4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70993FA-7880-CD26-690A-A9B4B5A92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533" y="967050"/>
            <a:ext cx="4529495" cy="3365100"/>
          </a:xfrm>
          <a:prstGeom prst="rect">
            <a:avLst/>
          </a:prstGeom>
        </p:spPr>
      </p:pic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20EA592E-3560-B43E-650C-5D82936F55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411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Things to </a:t>
            </a:r>
            <a:r>
              <a:rPr lang="en" i="1" dirty="0">
                <a:solidFill>
                  <a:schemeClr val="bg1">
                    <a:lumMod val="95000"/>
                  </a:schemeClr>
                </a:solidFill>
              </a:rPr>
              <a:t>avoid </a:t>
            </a:r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when running on HPC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Google Shape;202;p33">
            <a:extLst>
              <a:ext uri="{FF2B5EF4-FFF2-40B4-BE49-F238E27FC236}">
                <a16:creationId xmlns:a16="http://schemas.microsoft.com/office/drawing/2014/main" id="{2DA1EA63-BB35-0258-7E09-70142AD6D9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114493" y="755910"/>
            <a:ext cx="3880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running on a large number of nodes, avoid combining fast parallel code with slow serial code in a single job. </a:t>
            </a: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endParaRPr lang="en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>
              <a:buSzPts val="2200"/>
              <a:buFont typeface="Arial"/>
              <a:buAutoNum type="arabicPeriod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 the </a:t>
            </a:r>
            <a:r>
              <a:rPr lang="en-US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#SBATCH </a:t>
            </a:r>
            <a:r>
              <a:rPr lang="en-US" i="1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--exclusive</a:t>
            </a: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flag if not necessary</a:t>
            </a:r>
          </a:p>
          <a:p>
            <a:pPr indent="-368300">
              <a:buSzPts val="2200"/>
              <a:buFont typeface="Arial"/>
              <a:buAutoNum type="arabicPeriod"/>
            </a:pPr>
            <a:endParaRPr lang="en-US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>
              <a:buSzPts val="2200"/>
              <a:buFont typeface="Arial"/>
              <a:buAutoNum type="arabicPeriod"/>
            </a:pPr>
            <a:r>
              <a:rPr lang="en-US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 a time limit incase your job gets stuck</a:t>
            </a: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endParaRPr lang="en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204;p33">
            <a:extLst>
              <a:ext uri="{FF2B5EF4-FFF2-40B4-BE49-F238E27FC236}">
                <a16:creationId xmlns:a16="http://schemas.microsoft.com/office/drawing/2014/main" id="{4977D271-9ACA-4544-2E6F-B8D44ADC31BE}"/>
              </a:ext>
            </a:extLst>
          </p:cNvPr>
          <p:cNvSpPr/>
          <p:nvPr/>
        </p:nvSpPr>
        <p:spPr>
          <a:xfrm>
            <a:off x="4111199" y="2285820"/>
            <a:ext cx="3787201" cy="185490"/>
          </a:xfrm>
          <a:prstGeom prst="rect">
            <a:avLst/>
          </a:prstGeom>
          <a:noFill/>
          <a:ln w="28575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32713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787E8899-E5C4-DACB-D670-10DCB833A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F521AB71-E452-628B-E792-079FF822479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411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Hopper HPC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05F80D-5E74-AE6E-59F2-2A755E8426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522593"/>
            <a:ext cx="4244561" cy="146975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B05D569-B379-E201-1E19-E76D456DEFA0}"/>
              </a:ext>
            </a:extLst>
          </p:cNvPr>
          <p:cNvSpPr txBox="1"/>
          <p:nvPr/>
        </p:nvSpPr>
        <p:spPr>
          <a:xfrm>
            <a:off x="4354940" y="4786151"/>
            <a:ext cx="4373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solidFill>
                  <a:schemeClr val="bg1">
                    <a:lumMod val="50000"/>
                  </a:schemeClr>
                </a:solidFill>
              </a:rPr>
              <a:t>Source: Cornell Center for Advanced Computing (CAC)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BD9D71-9DD2-58A5-F540-D25BE7BE04CB}"/>
              </a:ext>
            </a:extLst>
          </p:cNvPr>
          <p:cNvSpPr txBox="1"/>
          <p:nvPr/>
        </p:nvSpPr>
        <p:spPr>
          <a:xfrm>
            <a:off x="180001" y="824993"/>
            <a:ext cx="3915880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4"/>
            <a:r>
              <a:rPr lang="en-US" sz="2000" b="1" dirty="0"/>
              <a:t>Overview of the Hopper HPC</a:t>
            </a:r>
          </a:p>
          <a:p>
            <a:pPr lvl="4"/>
            <a:endParaRPr lang="en-US" sz="2000" dirty="0"/>
          </a:p>
          <a:p>
            <a:pPr lvl="4"/>
            <a:r>
              <a:rPr lang="en-US" sz="2000" dirty="0"/>
              <a:t>26 compute nodes</a:t>
            </a:r>
          </a:p>
          <a:p>
            <a:pPr lvl="4" defTabSz="403225"/>
            <a:r>
              <a:rPr lang="en-US" sz="2000" dirty="0"/>
              <a:t>	22 x 40-core Intel CPUs</a:t>
            </a:r>
          </a:p>
          <a:p>
            <a:pPr lvl="4" defTabSz="403225"/>
            <a:r>
              <a:rPr lang="en-US" sz="2000" dirty="0"/>
              <a:t>	  4 x 96-core AMD CPUs</a:t>
            </a:r>
          </a:p>
          <a:p>
            <a:pPr lvl="4" defTabSz="403225"/>
            <a:endParaRPr lang="en-US" sz="2000" dirty="0"/>
          </a:p>
          <a:p>
            <a:pPr lvl="4" defTabSz="403225"/>
            <a:endParaRPr lang="en-US" sz="1800" dirty="0"/>
          </a:p>
          <a:p>
            <a:pPr lvl="4" defTabSz="403225"/>
            <a:r>
              <a:rPr lang="en-US" sz="1200" dirty="0"/>
              <a:t>Contact Prof. Vivek Srikrishnan for access to Hopper. </a:t>
            </a:r>
          </a:p>
          <a:p>
            <a:pPr lvl="4" defTabSz="403225"/>
            <a:endParaRPr lang="en-US" sz="1600" dirty="0"/>
          </a:p>
          <a:p>
            <a:pPr lvl="4" defTabSz="403225"/>
            <a:r>
              <a:rPr lang="en-US" sz="1600" dirty="0"/>
              <a:t>See the CAC Tech Docs for help with specific package versions or other guidance.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31CB23-FD26-17E0-16FD-66ABAD0C57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940" y="2103464"/>
            <a:ext cx="3915880" cy="2652119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4F82B8D-1F02-9530-7E2B-9E5D4F8F3B16}"/>
              </a:ext>
            </a:extLst>
          </p:cNvPr>
          <p:cNvCxnSpPr>
            <a:cxnSpLocks/>
            <a:stCxn id="12" idx="3"/>
            <a:endCxn id="8" idx="1"/>
          </p:cNvCxnSpPr>
          <p:nvPr/>
        </p:nvCxnSpPr>
        <p:spPr>
          <a:xfrm flipV="1">
            <a:off x="3895201" y="3429524"/>
            <a:ext cx="688739" cy="35326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948B81F-3E8A-7725-2F71-AF6E5E03CF66}"/>
              </a:ext>
            </a:extLst>
          </p:cNvPr>
          <p:cNvSpPr/>
          <p:nvPr/>
        </p:nvSpPr>
        <p:spPr>
          <a:xfrm>
            <a:off x="180001" y="3355046"/>
            <a:ext cx="3715200" cy="855489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5014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B41D451F-2A28-7244-8113-A6DB0D80A5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1CA61DF9-1B63-2F34-6A5E-644115FC8A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41148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lvl="0"/>
            <a:r>
              <a:rPr lang="en" dirty="0">
                <a:solidFill>
                  <a:schemeClr val="bg1">
                    <a:lumMod val="95000"/>
                  </a:schemeClr>
                </a:solidFill>
              </a:rPr>
              <a:t>Hopper HPC Ettiquette 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BA24EE-2893-EE4F-7EE1-93CD5942438A}"/>
              </a:ext>
            </a:extLst>
          </p:cNvPr>
          <p:cNvSpPr txBox="1"/>
          <p:nvPr/>
        </p:nvSpPr>
        <p:spPr>
          <a:xfrm>
            <a:off x="180000" y="824993"/>
            <a:ext cx="85205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4"/>
            <a:endParaRPr lang="en-US" sz="1800" dirty="0"/>
          </a:p>
          <a:p>
            <a:pPr lvl="4"/>
            <a:endParaRPr lang="en-US" sz="1800" dirty="0"/>
          </a:p>
          <a:p>
            <a:pPr lvl="4"/>
            <a:endParaRPr 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359CA7-7194-5486-68F4-3F507A74F24E}"/>
              </a:ext>
            </a:extLst>
          </p:cNvPr>
          <p:cNvSpPr txBox="1"/>
          <p:nvPr/>
        </p:nvSpPr>
        <p:spPr>
          <a:xfrm>
            <a:off x="385200" y="616193"/>
            <a:ext cx="8373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accent5"/>
                </a:solidFill>
              </a:rPr>
              <a:t>(This is Trevor’s general understanding of etiquette, open to group discussion on this.)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Coordinate and communicate when running on more than 8+ nodes </a:t>
            </a:r>
          </a:p>
          <a:p>
            <a:pPr lvl="3"/>
            <a:r>
              <a:rPr lang="en-US" sz="1600" dirty="0"/>
              <a:t>	(New group slack?  Shared spreadsheet? Should improve this standard…)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Don’t use more than 10 nodes at any given time.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Be considerate with usage during busy periods of the year.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Avoid use of the </a:t>
            </a:r>
            <a:r>
              <a:rPr lang="en-US" sz="1600" dirty="0">
                <a:solidFill>
                  <a:schemeClr val="accent5"/>
                </a:solidFill>
              </a:rPr>
              <a:t>–exclusive</a:t>
            </a:r>
            <a:r>
              <a:rPr lang="en-US" sz="1600" dirty="0"/>
              <a:t> flag if not necessary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If your job gets stuck/hung and cannot be canceled, contact CAC for help. </a:t>
            </a:r>
          </a:p>
        </p:txBody>
      </p:sp>
    </p:spTree>
    <p:extLst>
      <p:ext uri="{BB962C8B-B14F-4D97-AF65-F5344CB8AC3E}">
        <p14:creationId xmlns:p14="http://schemas.microsoft.com/office/powerpoint/2010/main" val="32570164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>
          <a:extLst>
            <a:ext uri="{FF2B5EF4-FFF2-40B4-BE49-F238E27FC236}">
              <a16:creationId xmlns:a16="http://schemas.microsoft.com/office/drawing/2014/main" id="{DCEEFB80-91BB-D5D2-4FB3-52546CEA7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Processor with solid fill">
            <a:extLst>
              <a:ext uri="{FF2B5EF4-FFF2-40B4-BE49-F238E27FC236}">
                <a16:creationId xmlns:a16="http://schemas.microsoft.com/office/drawing/2014/main" id="{B325190B-28E1-EADD-06D6-0EF34DEA35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4950" y="519549"/>
            <a:ext cx="1535850" cy="15358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57889E-E141-FA83-9D3C-55D5BE0977D4}"/>
              </a:ext>
            </a:extLst>
          </p:cNvPr>
          <p:cNvSpPr txBox="1"/>
          <p:nvPr/>
        </p:nvSpPr>
        <p:spPr>
          <a:xfrm>
            <a:off x="1179300" y="548810"/>
            <a:ext cx="17093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4"/>
            <a:endParaRPr lang="en-US" sz="3000" b="1" dirty="0">
              <a:solidFill>
                <a:schemeClr val="bg1"/>
              </a:solidFill>
            </a:endParaRPr>
          </a:p>
          <a:p>
            <a:pPr lvl="4"/>
            <a:r>
              <a:rPr lang="en-US" sz="3000" b="1" dirty="0">
                <a:solidFill>
                  <a:schemeClr val="bg1"/>
                </a:solidFill>
              </a:rPr>
              <a:t>?</a:t>
            </a:r>
          </a:p>
          <a:p>
            <a:pPr lvl="4"/>
            <a:endParaRPr lang="en-US" sz="30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1D120D-2321-233A-12FF-A1F876AFC8B9}"/>
              </a:ext>
            </a:extLst>
          </p:cNvPr>
          <p:cNvSpPr txBox="1"/>
          <p:nvPr/>
        </p:nvSpPr>
        <p:spPr>
          <a:xfrm>
            <a:off x="2286000" y="1006241"/>
            <a:ext cx="45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Any questions?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54B934-C91C-0A44-23B8-2D92230F68BF}"/>
              </a:ext>
            </a:extLst>
          </p:cNvPr>
          <p:cNvSpPr txBox="1"/>
          <p:nvPr/>
        </p:nvSpPr>
        <p:spPr>
          <a:xfrm>
            <a:off x="980400" y="2857269"/>
            <a:ext cx="457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Transition to workshop demo…</a:t>
            </a:r>
          </a:p>
        </p:txBody>
      </p:sp>
    </p:spTree>
    <p:extLst>
      <p:ext uri="{BB962C8B-B14F-4D97-AF65-F5344CB8AC3E}">
        <p14:creationId xmlns:p14="http://schemas.microsoft.com/office/powerpoint/2010/main" val="306582697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723</TotalTime>
  <Words>1416</Words>
  <Application>Microsoft Office PowerPoint</Application>
  <PresentationFormat>On-screen Show (16:9)</PresentationFormat>
  <Paragraphs>277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Open Sans</vt:lpstr>
      <vt:lpstr>Simple Light</vt:lpstr>
      <vt:lpstr>Introduction to High-Performance Computing for Research Applications</vt:lpstr>
      <vt:lpstr>Outline</vt:lpstr>
      <vt:lpstr>PowerPoint Presentation</vt:lpstr>
      <vt:lpstr>PowerPoint Presentation</vt:lpstr>
      <vt:lpstr>SLURM</vt:lpstr>
      <vt:lpstr>SLURM</vt:lpstr>
      <vt:lpstr>SLURM</vt:lpstr>
      <vt:lpstr>Command line &amp; bash basics</vt:lpstr>
      <vt:lpstr>Command line &amp; bash basics</vt:lpstr>
      <vt:lpstr>Parallelization</vt:lpstr>
      <vt:lpstr>Parallelization</vt:lpstr>
      <vt:lpstr>Parallelization</vt:lpstr>
      <vt:lpstr>Parallelization</vt:lpstr>
      <vt:lpstr>Parallelization</vt:lpstr>
      <vt:lpstr>Parallelization</vt:lpstr>
      <vt:lpstr>Parallelization</vt:lpstr>
      <vt:lpstr>Parallelization</vt:lpstr>
      <vt:lpstr>Parallelization</vt:lpstr>
      <vt:lpstr>Parallelization</vt:lpstr>
      <vt:lpstr>Parallelization: Message Parsing Interface (MPI)</vt:lpstr>
      <vt:lpstr>Parallelization: Message Parsing Interface (MPI)</vt:lpstr>
      <vt:lpstr>Parallelization: Message Parsing Interface (MPI)</vt:lpstr>
      <vt:lpstr>Parallelization: Message Parsing Interface (MPI)</vt:lpstr>
      <vt:lpstr>Parallelization: Message Parsing Interface (MPI)</vt:lpstr>
      <vt:lpstr>Parallelization: Message Parsing Interface (MPI)</vt:lpstr>
      <vt:lpstr>Summary of tips for parallelization</vt:lpstr>
      <vt:lpstr>Things to avoid when running on HPC</vt:lpstr>
      <vt:lpstr>Things to avoid when running on HPC</vt:lpstr>
      <vt:lpstr>Things to avoid when running on HPC</vt:lpstr>
      <vt:lpstr>Things to avoid when running on HPC</vt:lpstr>
      <vt:lpstr>Things to avoid when running on HPC</vt:lpstr>
      <vt:lpstr>Hopper HPC</vt:lpstr>
      <vt:lpstr>Hopper HPC Ettiquette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Lillian Bei Jia Lau</cp:lastModifiedBy>
  <cp:revision>88</cp:revision>
  <dcterms:modified xsi:type="dcterms:W3CDTF">2026-09-23T21:22:11Z</dcterms:modified>
</cp:coreProperties>
</file>